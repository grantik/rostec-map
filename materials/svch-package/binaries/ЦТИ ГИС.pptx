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1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0" name="Уровень текста 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" name="Уровень текста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8" name="Уровень текста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Уровень текста 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C4C0B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КОНФИДЕНЦИАЛЬНО</a:t>
            </a:r>
          </a:p>
        </p:txBody>
      </p:sp>
      <p:sp>
        <p:nvSpPr>
          <p:cNvPr id="97" name="Connector 5"/>
          <p:cNvSpPr/>
          <p:nvPr/>
        </p:nvSpPr>
        <p:spPr>
          <a:xfrm>
            <a:off x="457199" y="914400"/>
            <a:ext cx="11277296" cy="0"/>
          </a:xfrm>
          <a:prstGeom prst="line">
            <a:avLst/>
          </a:prstGeom>
          <a:ln w="6350">
            <a:solidFill>
              <a:srgbClr val="55555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" name="TextBox 7"/>
          <p:cNvSpPr txBox="1"/>
          <p:nvPr/>
        </p:nvSpPr>
        <p:spPr>
          <a:xfrm>
            <a:off x="457200" y="2654299"/>
            <a:ext cx="11706013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5000">
                <a:solidFill>
                  <a:srgbClr val="F4F1E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Целевой Трудовой Импорт</a:t>
            </a:r>
          </a:p>
        </p:txBody>
      </p:sp>
      <p:sp>
        <p:nvSpPr>
          <p:cNvPr id="99" name="TextBox 8"/>
          <p:cNvSpPr txBox="1"/>
          <p:nvPr/>
        </p:nvSpPr>
        <p:spPr>
          <a:xfrm>
            <a:off x="457200" y="4114799"/>
            <a:ext cx="7923435" cy="509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500">
                <a:solidFill>
                  <a:srgbClr val="E0DCD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Создание кадрового демпфера для задач Корпорации в логике Указа Президента №738 и альтернативный источник кадров для платформенной экономики РФ</a:t>
            </a:r>
          </a:p>
        </p:txBody>
      </p:sp>
      <p:sp>
        <p:nvSpPr>
          <p:cNvPr id="100" name="Connector 10"/>
          <p:cNvSpPr/>
          <p:nvPr/>
        </p:nvSpPr>
        <p:spPr>
          <a:xfrm>
            <a:off x="457199" y="5852159"/>
            <a:ext cx="11277296" cy="1"/>
          </a:xfrm>
          <a:prstGeom prst="line">
            <a:avLst/>
          </a:prstGeom>
          <a:ln w="6350">
            <a:solidFill>
              <a:srgbClr val="555555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1" name="TextBox 12"/>
          <p:cNvSpPr txBox="1"/>
          <p:nvPr/>
        </p:nvSpPr>
        <p:spPr>
          <a:xfrm>
            <a:off x="457200" y="6263640"/>
            <a:ext cx="457200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00" sz="1100">
                <a:solidFill>
                  <a:srgbClr val="DCD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Стратегическая записка</a:t>
            </a:r>
          </a:p>
        </p:txBody>
      </p:sp>
      <p:sp>
        <p:nvSpPr>
          <p:cNvPr id="102" name="TextBox 14"/>
          <p:cNvSpPr txBox="1"/>
          <p:nvPr/>
        </p:nvSpPr>
        <p:spPr>
          <a:xfrm>
            <a:off x="7162495" y="6263640"/>
            <a:ext cx="45720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00" sz="1100">
                <a:solidFill>
                  <a:srgbClr val="DCD8C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Май 2026</a:t>
            </a:r>
          </a:p>
        </p:txBody>
      </p:sp>
      <p:sp>
        <p:nvSpPr>
          <p:cNvPr id="103" name="Text 4"/>
          <p:cNvSpPr txBox="1"/>
          <p:nvPr/>
        </p:nvSpPr>
        <p:spPr>
          <a:xfrm>
            <a:off x="457200" y="2174318"/>
            <a:ext cx="16952977" cy="9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defRPr b="1" spc="246" sz="1600">
                <a:solidFill>
                  <a:srgbClr val="D7282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ГОСУДАРСТВЕННАЯ ИНФОРМАЦИОННАЯ СИСТЕМА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-6198" y="12700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ДИАГНОЗ РЫНКА</a:t>
            </a:r>
          </a:p>
        </p:txBody>
      </p:sp>
      <p:sp>
        <p:nvSpPr>
          <p:cNvPr id="108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</a:t>
            </a:r>
          </a:p>
        </p:txBody>
      </p:sp>
      <p:sp>
        <p:nvSpPr>
          <p:cNvPr id="109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Два существующих контура занятости и их конфликт</a:t>
            </a:r>
          </a:p>
        </p:txBody>
      </p:sp>
      <p:sp>
        <p:nvSpPr>
          <p:cNvPr id="111" name="TextBox 7"/>
          <p:cNvSpPr txBox="1"/>
          <p:nvPr/>
        </p:nvSpPr>
        <p:spPr>
          <a:xfrm>
            <a:off x="457199" y="1539748"/>
            <a:ext cx="1078992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Промышленность уступает платформам не по спросу на труд, а по конструкции режима занятости - в налогах и часах.</a:t>
            </a:r>
          </a:p>
        </p:txBody>
      </p:sp>
      <p:sp>
        <p:nvSpPr>
          <p:cNvPr id="112" name="Connector 8"/>
          <p:cNvSpPr/>
          <p:nvPr/>
        </p:nvSpPr>
        <p:spPr>
          <a:xfrm>
            <a:off x="457199" y="1841500"/>
            <a:ext cx="11277296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TextBox 9"/>
          <p:cNvSpPr txBox="1"/>
          <p:nvPr/>
        </p:nvSpPr>
        <p:spPr>
          <a:xfrm>
            <a:off x="457200" y="2024379"/>
            <a:ext cx="18288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КОНТУР 1</a:t>
            </a:r>
          </a:p>
        </p:txBody>
      </p:sp>
      <p:sp>
        <p:nvSpPr>
          <p:cNvPr id="114" name="TextBox 10"/>
          <p:cNvSpPr txBox="1"/>
          <p:nvPr/>
        </p:nvSpPr>
        <p:spPr>
          <a:xfrm>
            <a:off x="457200" y="2298700"/>
            <a:ext cx="45720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Штатный найм + квоты</a:t>
            </a:r>
          </a:p>
        </p:txBody>
      </p:sp>
      <p:sp>
        <p:nvSpPr>
          <p:cNvPr id="115" name="TextBox 11"/>
          <p:cNvSpPr txBox="1"/>
          <p:nvPr/>
        </p:nvSpPr>
        <p:spPr>
          <a:xfrm>
            <a:off x="457200" y="2893059"/>
            <a:ext cx="27432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4800">
                <a:solidFill>
                  <a:srgbClr val="D7282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43%</a:t>
            </a:r>
          </a:p>
        </p:txBody>
      </p:sp>
      <p:sp>
        <p:nvSpPr>
          <p:cNvPr id="116" name="TextBox 12"/>
          <p:cNvSpPr txBox="1"/>
          <p:nvPr/>
        </p:nvSpPr>
        <p:spPr>
          <a:xfrm>
            <a:off x="2834639" y="3121659"/>
            <a:ext cx="27432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Налоговая нагрузка</a:t>
            </a:r>
            <a:r>
              <a:rPr b="0">
                <a:solidFill>
                  <a:srgbClr val="3A362E"/>
                </a:solidFill>
              </a:rPr>
              <a:t> на ФОТ</a:t>
            </a:r>
          </a:p>
        </p:txBody>
      </p:sp>
      <p:sp>
        <p:nvSpPr>
          <p:cNvPr id="117" name="Connector 13"/>
          <p:cNvSpPr/>
          <p:nvPr/>
        </p:nvSpPr>
        <p:spPr>
          <a:xfrm>
            <a:off x="457200" y="3716018"/>
            <a:ext cx="5364327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TextBox 14"/>
          <p:cNvSpPr txBox="1"/>
          <p:nvPr/>
        </p:nvSpPr>
        <p:spPr>
          <a:xfrm>
            <a:off x="457200" y="3853179"/>
            <a:ext cx="2743200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48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160</a:t>
            </a:r>
          </a:p>
        </p:txBody>
      </p:sp>
      <p:sp>
        <p:nvSpPr>
          <p:cNvPr id="119" name="TextBox 15"/>
          <p:cNvSpPr txBox="1"/>
          <p:nvPr/>
        </p:nvSpPr>
        <p:spPr>
          <a:xfrm>
            <a:off x="2834639" y="4081779"/>
            <a:ext cx="2743201" cy="402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Часов в месяц</a:t>
            </a:r>
            <a:r>
              <a:rPr b="0">
                <a:solidFill>
                  <a:srgbClr val="3A362E"/>
                </a:solidFill>
              </a:rPr>
              <a:t> — нормативная модель</a:t>
            </a:r>
          </a:p>
        </p:txBody>
      </p:sp>
      <p:sp>
        <p:nvSpPr>
          <p:cNvPr id="120" name="Connector 16"/>
          <p:cNvSpPr/>
          <p:nvPr/>
        </p:nvSpPr>
        <p:spPr>
          <a:xfrm>
            <a:off x="457200" y="4676140"/>
            <a:ext cx="5364327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1" name="TextBox 17"/>
          <p:cNvSpPr txBox="1"/>
          <p:nvPr/>
        </p:nvSpPr>
        <p:spPr>
          <a:xfrm>
            <a:off x="457199" y="4792979"/>
            <a:ext cx="1645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8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ЭФФЕКТ ДЛЯ РЫНКА</a:t>
            </a:r>
          </a:p>
        </p:txBody>
      </p:sp>
      <p:sp>
        <p:nvSpPr>
          <p:cNvPr id="122" name="TextBox 18"/>
          <p:cNvSpPr txBox="1"/>
          <p:nvPr/>
        </p:nvSpPr>
        <p:spPr>
          <a:xfrm>
            <a:off x="457200" y="4975859"/>
            <a:ext cx="5364327" cy="48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Заградительно дорогой контур </a:t>
            </a:r>
            <a:r>
              <a:rPr b="0">
                <a:solidFill>
                  <a:srgbClr val="3A362E"/>
                </a:solidFill>
              </a:rPr>
              <a:t>—</a:t>
            </a:r>
            <a:r>
              <a:t> платформам бессмысленно его использовать.</a:t>
            </a:r>
          </a:p>
        </p:txBody>
      </p:sp>
      <p:sp>
        <p:nvSpPr>
          <p:cNvPr id="123" name="Connector 19"/>
          <p:cNvSpPr/>
          <p:nvPr/>
        </p:nvSpPr>
        <p:spPr>
          <a:xfrm flipH="1">
            <a:off x="6095846" y="1958339"/>
            <a:ext cx="1" cy="3566160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4" name="TextBox 20"/>
          <p:cNvSpPr txBox="1"/>
          <p:nvPr/>
        </p:nvSpPr>
        <p:spPr>
          <a:xfrm>
            <a:off x="6370166" y="2024379"/>
            <a:ext cx="18288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КОНТУР 2</a:t>
            </a:r>
          </a:p>
        </p:txBody>
      </p:sp>
      <p:sp>
        <p:nvSpPr>
          <p:cNvPr id="125" name="TextBox 21"/>
          <p:cNvSpPr txBox="1"/>
          <p:nvPr/>
        </p:nvSpPr>
        <p:spPr>
          <a:xfrm>
            <a:off x="6370166" y="2298700"/>
            <a:ext cx="4572001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СМЗ / ГПХ</a:t>
            </a:r>
          </a:p>
        </p:txBody>
      </p:sp>
      <p:sp>
        <p:nvSpPr>
          <p:cNvPr id="126" name="TextBox 22"/>
          <p:cNvSpPr txBox="1"/>
          <p:nvPr/>
        </p:nvSpPr>
        <p:spPr>
          <a:xfrm>
            <a:off x="6370166" y="2893059"/>
            <a:ext cx="27432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4800">
                <a:solidFill>
                  <a:srgbClr val="D7282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до 6%</a:t>
            </a:r>
          </a:p>
        </p:txBody>
      </p:sp>
      <p:sp>
        <p:nvSpPr>
          <p:cNvPr id="127" name="TextBox 23"/>
          <p:cNvSpPr txBox="1"/>
          <p:nvPr/>
        </p:nvSpPr>
        <p:spPr>
          <a:xfrm>
            <a:off x="8839047" y="3121659"/>
            <a:ext cx="2743201" cy="402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Эффективная нагрузка</a:t>
            </a:r>
            <a:r>
              <a:rPr b="0">
                <a:solidFill>
                  <a:srgbClr val="3A362E"/>
                </a:solidFill>
              </a:rPr>
              <a:t> на вознаграждение</a:t>
            </a:r>
          </a:p>
        </p:txBody>
      </p:sp>
      <p:sp>
        <p:nvSpPr>
          <p:cNvPr id="128" name="Connector 24"/>
          <p:cNvSpPr/>
          <p:nvPr/>
        </p:nvSpPr>
        <p:spPr>
          <a:xfrm>
            <a:off x="6370166" y="3716018"/>
            <a:ext cx="5090008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9" name="TextBox 25"/>
          <p:cNvSpPr txBox="1"/>
          <p:nvPr/>
        </p:nvSpPr>
        <p:spPr>
          <a:xfrm>
            <a:off x="6370166" y="3853179"/>
            <a:ext cx="274320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48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300+</a:t>
            </a:r>
          </a:p>
        </p:txBody>
      </p:sp>
      <p:sp>
        <p:nvSpPr>
          <p:cNvPr id="130" name="TextBox 26"/>
          <p:cNvSpPr txBox="1"/>
          <p:nvPr/>
        </p:nvSpPr>
        <p:spPr>
          <a:xfrm>
            <a:off x="8839047" y="4081779"/>
            <a:ext cx="2743201" cy="402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Часов в месяц</a:t>
            </a:r>
            <a:r>
              <a:rPr b="0">
                <a:solidFill>
                  <a:srgbClr val="3A362E"/>
                </a:solidFill>
              </a:rPr>
              <a:t> — фактическая модель</a:t>
            </a:r>
          </a:p>
        </p:txBody>
      </p:sp>
      <p:sp>
        <p:nvSpPr>
          <p:cNvPr id="131" name="Connector 27"/>
          <p:cNvSpPr/>
          <p:nvPr/>
        </p:nvSpPr>
        <p:spPr>
          <a:xfrm>
            <a:off x="6370166" y="4676140"/>
            <a:ext cx="5090008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TextBox 28"/>
          <p:cNvSpPr txBox="1"/>
          <p:nvPr/>
        </p:nvSpPr>
        <p:spPr>
          <a:xfrm>
            <a:off x="6370166" y="4792979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8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ЭФФЕКТ ДЛЯ ГОСУДАРСТВА</a:t>
            </a:r>
          </a:p>
        </p:txBody>
      </p:sp>
      <p:sp>
        <p:nvSpPr>
          <p:cNvPr id="133" name="TextBox 29"/>
          <p:cNvSpPr txBox="1"/>
          <p:nvPr/>
        </p:nvSpPr>
        <p:spPr>
          <a:xfrm>
            <a:off x="6370166" y="4975859"/>
            <a:ext cx="5090009" cy="488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5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Эрозия фискальной базы </a:t>
            </a:r>
            <a:r>
              <a:rPr b="0">
                <a:solidFill>
                  <a:srgbClr val="3A362E"/>
                </a:solidFill>
              </a:rPr>
              <a:t>— </a:t>
            </a:r>
            <a:r>
              <a:t>государство недополучает налоги с кадрового ядра.</a:t>
            </a:r>
          </a:p>
        </p:txBody>
      </p:sp>
      <p:sp>
        <p:nvSpPr>
          <p:cNvPr id="134" name="Connector 32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5" name="TextBox 33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136" name="TextBox 34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02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137" name="Rectangle 29"/>
          <p:cNvSpPr/>
          <p:nvPr/>
        </p:nvSpPr>
        <p:spPr>
          <a:xfrm>
            <a:off x="457199" y="5852159"/>
            <a:ext cx="11277297" cy="45720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30"/>
          <p:cNvSpPr txBox="1"/>
          <p:nvPr/>
        </p:nvSpPr>
        <p:spPr>
          <a:xfrm>
            <a:off x="2519366" y="5958331"/>
            <a:ext cx="7624028" cy="214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−138 млрд ₽/год </a:t>
            </a:r>
            <a:r>
              <a:t>- объём недополученных налогов с ядра 400 тысяч человек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-6198" y="-12701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ЭСКАЛАЦИЯ В ПРОСТРАНСТВЕ</a:t>
            </a:r>
          </a:p>
        </p:txBody>
      </p:sp>
      <p:sp>
        <p:nvSpPr>
          <p:cNvPr id="143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</a:t>
            </a:r>
          </a:p>
        </p:txBody>
      </p:sp>
      <p:sp>
        <p:nvSpPr>
          <p:cNvPr id="144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Зона конкуренции за кадры расширяется</a:t>
            </a:r>
          </a:p>
        </p:txBody>
      </p:sp>
      <p:sp>
        <p:nvSpPr>
          <p:cNvPr id="146" name="TextBox 9"/>
          <p:cNvSpPr txBox="1"/>
          <p:nvPr/>
        </p:nvSpPr>
        <p:spPr>
          <a:xfrm>
            <a:off x="457200" y="2291079"/>
            <a:ext cx="1828800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БАЗА</a:t>
            </a:r>
          </a:p>
        </p:txBody>
      </p:sp>
      <p:sp>
        <p:nvSpPr>
          <p:cNvPr id="147" name="TextBox 10"/>
          <p:cNvSpPr txBox="1"/>
          <p:nvPr/>
        </p:nvSpPr>
        <p:spPr>
          <a:xfrm>
            <a:off x="1612900" y="2125979"/>
            <a:ext cx="27432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800">
                <a:solidFill>
                  <a:srgbClr val="E8B6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2019</a:t>
            </a:r>
          </a:p>
        </p:txBody>
      </p:sp>
      <p:sp>
        <p:nvSpPr>
          <p:cNvPr id="148" name="TextBox 13"/>
          <p:cNvSpPr txBox="1"/>
          <p:nvPr/>
        </p:nvSpPr>
        <p:spPr>
          <a:xfrm>
            <a:off x="1747418" y="47828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E8B6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~15</a:t>
            </a:r>
          </a:p>
        </p:txBody>
      </p:sp>
      <p:sp>
        <p:nvSpPr>
          <p:cNvPr id="149" name="TextBox 14"/>
          <p:cNvSpPr txBox="1"/>
          <p:nvPr/>
        </p:nvSpPr>
        <p:spPr>
          <a:xfrm>
            <a:off x="434851" y="4795851"/>
            <a:ext cx="940720" cy="344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предприятий в зоне охвата</a:t>
            </a:r>
          </a:p>
        </p:txBody>
      </p:sp>
      <p:sp>
        <p:nvSpPr>
          <p:cNvPr id="150" name="TextBox 15"/>
          <p:cNvSpPr txBox="1"/>
          <p:nvPr/>
        </p:nvSpPr>
        <p:spPr>
          <a:xfrm>
            <a:off x="1747418" y="52400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E8B6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~80 тыс.</a:t>
            </a:r>
          </a:p>
        </p:txBody>
      </p:sp>
      <p:sp>
        <p:nvSpPr>
          <p:cNvPr id="151" name="TextBox 16"/>
          <p:cNvSpPr txBox="1"/>
          <p:nvPr/>
        </p:nvSpPr>
        <p:spPr>
          <a:xfrm>
            <a:off x="433672" y="5264580"/>
            <a:ext cx="1078404" cy="344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граждан в зоне конкуренции</a:t>
            </a:r>
          </a:p>
        </p:txBody>
      </p:sp>
      <p:sp>
        <p:nvSpPr>
          <p:cNvPr id="152" name="Connector 17"/>
          <p:cNvSpPr/>
          <p:nvPr/>
        </p:nvSpPr>
        <p:spPr>
          <a:xfrm flipH="1">
            <a:off x="4033418" y="2291079"/>
            <a:ext cx="1" cy="365760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3" name="TextBox 18"/>
          <p:cNvSpPr txBox="1"/>
          <p:nvPr/>
        </p:nvSpPr>
        <p:spPr>
          <a:xfrm>
            <a:off x="4399177" y="2291079"/>
            <a:ext cx="18288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СЕЙЧАС</a:t>
            </a:r>
          </a:p>
        </p:txBody>
      </p:sp>
      <p:sp>
        <p:nvSpPr>
          <p:cNvPr id="154" name="TextBox 19"/>
          <p:cNvSpPr txBox="1"/>
          <p:nvPr/>
        </p:nvSpPr>
        <p:spPr>
          <a:xfrm>
            <a:off x="5554877" y="2125979"/>
            <a:ext cx="2743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800">
                <a:solidFill>
                  <a:srgbClr val="E87A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155" name="TextBox 22"/>
          <p:cNvSpPr txBox="1"/>
          <p:nvPr/>
        </p:nvSpPr>
        <p:spPr>
          <a:xfrm>
            <a:off x="5562095" y="47828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E87A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~105</a:t>
            </a:r>
          </a:p>
        </p:txBody>
      </p:sp>
      <p:sp>
        <p:nvSpPr>
          <p:cNvPr id="156" name="TextBox 24"/>
          <p:cNvSpPr txBox="1"/>
          <p:nvPr/>
        </p:nvSpPr>
        <p:spPr>
          <a:xfrm>
            <a:off x="5562095" y="52400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E87A1E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~400 тыс.</a:t>
            </a:r>
          </a:p>
        </p:txBody>
      </p:sp>
      <p:sp>
        <p:nvSpPr>
          <p:cNvPr id="157" name="Connector 26"/>
          <p:cNvSpPr/>
          <p:nvPr/>
        </p:nvSpPr>
        <p:spPr>
          <a:xfrm>
            <a:off x="7975396" y="2291079"/>
            <a:ext cx="1" cy="365760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8" name="TextBox 27"/>
          <p:cNvSpPr txBox="1"/>
          <p:nvPr/>
        </p:nvSpPr>
        <p:spPr>
          <a:xfrm>
            <a:off x="8158275" y="2291079"/>
            <a:ext cx="1828801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ПРОГНОЗ</a:t>
            </a:r>
          </a:p>
        </p:txBody>
      </p:sp>
      <p:sp>
        <p:nvSpPr>
          <p:cNvPr id="159" name="TextBox 28"/>
          <p:cNvSpPr txBox="1"/>
          <p:nvPr/>
        </p:nvSpPr>
        <p:spPr>
          <a:xfrm>
            <a:off x="9390175" y="2125979"/>
            <a:ext cx="2743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800">
                <a:solidFill>
                  <a:srgbClr val="D7282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2030</a:t>
            </a:r>
          </a:p>
        </p:txBody>
      </p:sp>
      <p:sp>
        <p:nvSpPr>
          <p:cNvPr id="160" name="TextBox 31"/>
          <p:cNvSpPr txBox="1"/>
          <p:nvPr/>
        </p:nvSpPr>
        <p:spPr>
          <a:xfrm>
            <a:off x="9448495" y="47828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D7282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~140</a:t>
            </a:r>
          </a:p>
        </p:txBody>
      </p:sp>
      <p:sp>
        <p:nvSpPr>
          <p:cNvPr id="161" name="TextBox 33"/>
          <p:cNvSpPr txBox="1"/>
          <p:nvPr/>
        </p:nvSpPr>
        <p:spPr>
          <a:xfrm>
            <a:off x="9448495" y="5240020"/>
            <a:ext cx="2286001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defRPr sz="2200">
                <a:solidFill>
                  <a:srgbClr val="D7282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~1 млн</a:t>
            </a:r>
          </a:p>
        </p:txBody>
      </p:sp>
      <p:sp>
        <p:nvSpPr>
          <p:cNvPr id="162" name="Connector 35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3" name="TextBox 36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164" name="TextBox 37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03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165" name="TextBox 7"/>
          <p:cNvSpPr txBox="1"/>
          <p:nvPr/>
        </p:nvSpPr>
        <p:spPr>
          <a:xfrm>
            <a:off x="457199" y="1539748"/>
            <a:ext cx="1078992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Эволюция пересечения платформенной экономики и предприятий Корпорации, радиус 50 км.</a:t>
            </a:r>
          </a:p>
        </p:txBody>
      </p:sp>
      <p:sp>
        <p:nvSpPr>
          <p:cNvPr id="166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167" name="Снимок экрана 2026-05-07 в 18.11.43.png" descr="Снимок экрана 2026-05-07 в 18.11.4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348" y="2745099"/>
            <a:ext cx="3812558" cy="1926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Снимок экрана 2026-05-07 в 18.11.52.png" descr="Снимок экрана 2026-05-07 в 18.11.5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92371" y="2745099"/>
            <a:ext cx="3812558" cy="19266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Снимок экрана 2026-05-07 в 18.12.01.png" descr="Снимок экрана 2026-05-07 в 18.12.0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40908" y="2745099"/>
            <a:ext cx="3812558" cy="1926602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Rectangle 29"/>
          <p:cNvSpPr/>
          <p:nvPr/>
        </p:nvSpPr>
        <p:spPr>
          <a:xfrm>
            <a:off x="457199" y="5852159"/>
            <a:ext cx="11277297" cy="45720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30"/>
          <p:cNvSpPr txBox="1"/>
          <p:nvPr/>
        </p:nvSpPr>
        <p:spPr>
          <a:xfrm>
            <a:off x="1006494" y="5958331"/>
            <a:ext cx="10331716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Только распределительные центры и склады </a:t>
            </a:r>
            <a:r>
              <a:t>— с учётом курьерских услуг давление в 1.5 — 2 раза выше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"/>
          <p:cNvSpPr/>
          <p:nvPr/>
        </p:nvSpPr>
        <p:spPr>
          <a:xfrm>
            <a:off x="-18898" y="-12700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Shape 6"/>
          <p:cNvSpPr/>
          <p:nvPr/>
        </p:nvSpPr>
        <p:spPr>
          <a:xfrm>
            <a:off x="3640373" y="1946846"/>
            <a:ext cx="5093828" cy="3763392"/>
          </a:xfrm>
          <a:prstGeom prst="rect">
            <a:avLst/>
          </a:prstGeom>
          <a:solidFill>
            <a:srgbClr val="FFFFFF"/>
          </a:solidFill>
          <a:ln>
            <a:solidFill>
              <a:srgbClr val="111111">
                <a:alpha val="18000"/>
              </a:srgbClr>
            </a:solidFill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175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РЕШЕНИЕ</a:t>
            </a:r>
          </a:p>
        </p:txBody>
      </p:sp>
      <p:sp>
        <p:nvSpPr>
          <p:cNvPr id="177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II</a:t>
            </a:r>
          </a:p>
        </p:txBody>
      </p:sp>
      <p:sp>
        <p:nvSpPr>
          <p:cNvPr id="178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6"/>
          <p:cNvSpPr txBox="1"/>
          <p:nvPr/>
        </p:nvSpPr>
        <p:spPr>
          <a:xfrm>
            <a:off x="457199" y="841247"/>
            <a:ext cx="11460175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Управляемая середина между двумя крайностями</a:t>
            </a:r>
          </a:p>
        </p:txBody>
      </p:sp>
      <p:sp>
        <p:nvSpPr>
          <p:cNvPr id="180" name="TextBox 9"/>
          <p:cNvSpPr txBox="1"/>
          <p:nvPr/>
        </p:nvSpPr>
        <p:spPr>
          <a:xfrm>
            <a:off x="457200" y="2070100"/>
            <a:ext cx="182880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КОНТУР 1</a:t>
            </a:r>
          </a:p>
        </p:txBody>
      </p:sp>
      <p:sp>
        <p:nvSpPr>
          <p:cNvPr id="181" name="TextBox 10"/>
          <p:cNvSpPr txBox="1"/>
          <p:nvPr/>
        </p:nvSpPr>
        <p:spPr>
          <a:xfrm>
            <a:off x="457200" y="2298699"/>
            <a:ext cx="281265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Штатный найм + квоты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457200" y="3075940"/>
            <a:ext cx="281265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8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43% / 160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457200" y="3716020"/>
            <a:ext cx="1946616" cy="35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Жёсткий и дорогой. Заградителен для платформ.</a:t>
            </a:r>
          </a:p>
        </p:txBody>
      </p:sp>
      <p:sp>
        <p:nvSpPr>
          <p:cNvPr id="184" name="Connector 13"/>
          <p:cNvSpPr/>
          <p:nvPr/>
        </p:nvSpPr>
        <p:spPr>
          <a:xfrm flipH="1">
            <a:off x="3452731" y="2024379"/>
            <a:ext cx="1" cy="320040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Rectangle 14"/>
          <p:cNvSpPr/>
          <p:nvPr/>
        </p:nvSpPr>
        <p:spPr>
          <a:xfrm>
            <a:off x="6255866" y="1841499"/>
            <a:ext cx="45721" cy="274322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5"/>
          <p:cNvSpPr txBox="1"/>
          <p:nvPr/>
        </p:nvSpPr>
        <p:spPr>
          <a:xfrm>
            <a:off x="3635611" y="2252979"/>
            <a:ext cx="5103353" cy="135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pc="300" sz="10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КОНТУР 3 · УПРАВЛЯЕМЫЙ</a:t>
            </a:r>
          </a:p>
        </p:txBody>
      </p:sp>
      <p:sp>
        <p:nvSpPr>
          <p:cNvPr id="187" name="TextBox 16"/>
          <p:cNvSpPr txBox="1"/>
          <p:nvPr/>
        </p:nvSpPr>
        <p:spPr>
          <a:xfrm>
            <a:off x="3635611" y="2573020"/>
            <a:ext cx="5103353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5000"/>
              </a:lnSpc>
              <a:defRPr sz="55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ГИС «ЦТИ»</a:t>
            </a:r>
          </a:p>
        </p:txBody>
      </p:sp>
      <p:sp>
        <p:nvSpPr>
          <p:cNvPr id="188" name="TextBox 17"/>
          <p:cNvSpPr txBox="1"/>
          <p:nvPr/>
        </p:nvSpPr>
        <p:spPr>
          <a:xfrm>
            <a:off x="3635610" y="3633654"/>
            <a:ext cx="5103353" cy="283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на базе МПС с Индией</a:t>
            </a:r>
          </a:p>
        </p:txBody>
      </p:sp>
      <p:sp>
        <p:nvSpPr>
          <p:cNvPr id="189" name="Rectangle 18"/>
          <p:cNvSpPr/>
          <p:nvPr/>
        </p:nvSpPr>
        <p:spPr>
          <a:xfrm>
            <a:off x="4358487" y="4173220"/>
            <a:ext cx="3657601" cy="457201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19"/>
          <p:cNvSpPr txBox="1"/>
          <p:nvPr/>
        </p:nvSpPr>
        <p:spPr>
          <a:xfrm>
            <a:off x="5550674" y="4218940"/>
            <a:ext cx="9144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4F1E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~20%</a:t>
            </a:r>
          </a:p>
        </p:txBody>
      </p:sp>
      <p:sp>
        <p:nvSpPr>
          <p:cNvPr id="191" name="TextBox 20"/>
          <p:cNvSpPr txBox="1"/>
          <p:nvPr/>
        </p:nvSpPr>
        <p:spPr>
          <a:xfrm>
            <a:off x="3981491" y="4314374"/>
            <a:ext cx="1463041" cy="174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pc="170" sz="700">
                <a:solidFill>
                  <a:srgbClr val="C0BCB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ЭФФЕКТИВНАЯ НАГРУЗКА</a:t>
            </a:r>
          </a:p>
        </p:txBody>
      </p:sp>
      <p:sp>
        <p:nvSpPr>
          <p:cNvPr id="192" name="TextBox 21"/>
          <p:cNvSpPr txBox="1"/>
          <p:nvPr/>
        </p:nvSpPr>
        <p:spPr>
          <a:xfrm>
            <a:off x="6328344" y="4218940"/>
            <a:ext cx="162723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F4F1E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/ ВАХТА</a:t>
            </a:r>
          </a:p>
        </p:txBody>
      </p:sp>
      <p:sp>
        <p:nvSpPr>
          <p:cNvPr id="193" name="TextBox 23"/>
          <p:cNvSpPr txBox="1"/>
          <p:nvPr/>
        </p:nvSpPr>
        <p:spPr>
          <a:xfrm>
            <a:off x="4153617" y="4888992"/>
            <a:ext cx="4067340" cy="57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40000"/>
              </a:lnSpc>
              <a:defRPr sz="1100">
                <a:solidFill>
                  <a:srgbClr val="3A362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solidFill>
                  <a:srgbClr val="3A362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Прозрачный, экономически осмысленный для Корпорации и платформ кадровый демпфер и новый фискальный источник для государства без дополнительных обременений.</a:t>
            </a:r>
          </a:p>
        </p:txBody>
      </p:sp>
      <p:sp>
        <p:nvSpPr>
          <p:cNvPr id="194" name="Connector 24"/>
          <p:cNvSpPr/>
          <p:nvPr/>
        </p:nvSpPr>
        <p:spPr>
          <a:xfrm>
            <a:off x="8921843" y="2024379"/>
            <a:ext cx="1" cy="320040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TextBox 25"/>
          <p:cNvSpPr txBox="1"/>
          <p:nvPr/>
        </p:nvSpPr>
        <p:spPr>
          <a:xfrm>
            <a:off x="9104723" y="2070100"/>
            <a:ext cx="182880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КОНТУР 2</a:t>
            </a:r>
          </a:p>
        </p:txBody>
      </p:sp>
      <p:sp>
        <p:nvSpPr>
          <p:cNvPr id="196" name="TextBox 26"/>
          <p:cNvSpPr txBox="1"/>
          <p:nvPr/>
        </p:nvSpPr>
        <p:spPr>
          <a:xfrm>
            <a:off x="9104723" y="2298699"/>
            <a:ext cx="2812652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СМЗ / ГПХ</a:t>
            </a:r>
          </a:p>
        </p:txBody>
      </p:sp>
      <p:sp>
        <p:nvSpPr>
          <p:cNvPr id="197" name="TextBox 27"/>
          <p:cNvSpPr txBox="1"/>
          <p:nvPr/>
        </p:nvSpPr>
        <p:spPr>
          <a:xfrm>
            <a:off x="9104723" y="3075940"/>
            <a:ext cx="281265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2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до 6% / 300+</a:t>
            </a:r>
          </a:p>
        </p:txBody>
      </p:sp>
      <p:sp>
        <p:nvSpPr>
          <p:cNvPr id="198" name="TextBox 28"/>
          <p:cNvSpPr txBox="1"/>
          <p:nvPr/>
        </p:nvSpPr>
        <p:spPr>
          <a:xfrm>
            <a:off x="9104723" y="3716020"/>
            <a:ext cx="2336490" cy="35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Дешёвый и интенсивный. Размывает фискальную базу.</a:t>
            </a:r>
          </a:p>
        </p:txBody>
      </p:sp>
      <p:sp>
        <p:nvSpPr>
          <p:cNvPr id="199" name="Rectangle 29"/>
          <p:cNvSpPr/>
          <p:nvPr/>
        </p:nvSpPr>
        <p:spPr>
          <a:xfrm>
            <a:off x="457199" y="5852159"/>
            <a:ext cx="11277297" cy="457201"/>
          </a:xfrm>
          <a:prstGeom prst="rect">
            <a:avLst/>
          </a:prstGeom>
          <a:solidFill>
            <a:schemeClr val="accent3">
              <a:satOff val="-6373"/>
              <a:lumOff val="-1082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31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1" name="TextBox 32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202" name="TextBox 33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04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203" name="TextBox 7"/>
          <p:cNvSpPr txBox="1"/>
          <p:nvPr/>
        </p:nvSpPr>
        <p:spPr>
          <a:xfrm>
            <a:off x="457199" y="1539748"/>
            <a:ext cx="1078992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Не ломаем рынок и не дотируем найм — встраиваем третий, управляемый контур, создавая </a:t>
            </a:r>
            <a:r>
              <a:rPr u="sng"/>
              <a:t>новый</a:t>
            </a:r>
            <a:r>
              <a:t> поток.</a:t>
            </a:r>
          </a:p>
        </p:txBody>
      </p:sp>
      <p:sp>
        <p:nvSpPr>
          <p:cNvPr id="204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5" name="TextBox 30"/>
          <p:cNvSpPr txBox="1"/>
          <p:nvPr/>
        </p:nvSpPr>
        <p:spPr>
          <a:xfrm>
            <a:off x="1703894" y="5945928"/>
            <a:ext cx="8966786" cy="214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u="sng"/>
              <a:t>от +195 до +764 млрд ₽/год</a:t>
            </a:r>
            <a:r>
              <a:t> налоговых сборов к 3 и 7 годам работы ГИС ЦТИ соответственно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-6198" y="-1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МЕХАНИКА</a:t>
            </a:r>
          </a:p>
        </p:txBody>
      </p:sp>
      <p:sp>
        <p:nvSpPr>
          <p:cNvPr id="210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III</a:t>
            </a:r>
          </a:p>
        </p:txBody>
      </p:sp>
      <p:sp>
        <p:nvSpPr>
          <p:cNvPr id="211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Двойной рычаг ГИС «ЦТИ»</a:t>
            </a:r>
          </a:p>
        </p:txBody>
      </p:sp>
      <p:sp>
        <p:nvSpPr>
          <p:cNvPr id="213" name="Connector 26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4" name="TextBox 27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215" name="TextBox 28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05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216" name="TextBox 7"/>
          <p:cNvSpPr txBox="1"/>
          <p:nvPr/>
        </p:nvSpPr>
        <p:spPr>
          <a:xfrm>
            <a:off x="457199" y="1539748"/>
            <a:ext cx="10789922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Один работает быстро. Второй — медленно, но структурно меняет рынок труда. И дополнительный </a:t>
            </a:r>
            <a:r>
              <a:rPr b="1" sz="1700">
                <a:solidFill>
                  <a:schemeClr val="accent3">
                    <a:satOff val="-6373"/>
                    <a:lumOff val="-10823"/>
                  </a:schemeClr>
                </a:solidFill>
              </a:rPr>
              <a:t>+</a:t>
            </a:r>
          </a:p>
        </p:txBody>
      </p:sp>
      <p:sp>
        <p:nvSpPr>
          <p:cNvPr id="217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8" name="Shape 6"/>
          <p:cNvSpPr/>
          <p:nvPr/>
        </p:nvSpPr>
        <p:spPr>
          <a:xfrm>
            <a:off x="442549" y="1994404"/>
            <a:ext cx="5581149" cy="2417035"/>
          </a:xfrm>
          <a:prstGeom prst="rect">
            <a:avLst/>
          </a:prstGeom>
          <a:solidFill>
            <a:srgbClr val="FFFFFF"/>
          </a:solidFill>
          <a:ln>
            <a:solidFill>
              <a:srgbClr val="111111">
                <a:alpha val="18000"/>
              </a:srgbClr>
            </a:solidFill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19" name="Shape 7"/>
          <p:cNvSpPr/>
          <p:nvPr/>
        </p:nvSpPr>
        <p:spPr>
          <a:xfrm>
            <a:off x="492076" y="2601353"/>
            <a:ext cx="4898808" cy="6897"/>
          </a:xfrm>
          <a:prstGeom prst="rect">
            <a:avLst/>
          </a:prstGeom>
          <a:solidFill>
            <a:srgbClr val="111111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20" name="Text 8"/>
          <p:cNvSpPr txBox="1"/>
          <p:nvPr/>
        </p:nvSpPr>
        <p:spPr>
          <a:xfrm>
            <a:off x="568276" y="2087146"/>
            <a:ext cx="679605" cy="442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365760">
              <a:lnSpc>
                <a:spcPct val="85000"/>
              </a:lnSpc>
              <a:defRPr b="1" spc="-160" sz="2880">
                <a:solidFill>
                  <a:srgbClr val="5A8A3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21" name="Text 9"/>
          <p:cNvSpPr txBox="1"/>
          <p:nvPr/>
        </p:nvSpPr>
        <p:spPr>
          <a:xfrm>
            <a:off x="1312508" y="2200425"/>
            <a:ext cx="4430130" cy="766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defRPr b="1" spc="283" sz="1700">
                <a:solidFill>
                  <a:srgbClr val="8A85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ПРЯМОЕ ЗАКРЫТИЕ</a:t>
            </a:r>
          </a:p>
        </p:txBody>
      </p:sp>
      <p:sp>
        <p:nvSpPr>
          <p:cNvPr id="222" name="Text 10"/>
          <p:cNvSpPr txBox="1"/>
          <p:nvPr/>
        </p:nvSpPr>
        <p:spPr>
          <a:xfrm>
            <a:off x="568275" y="2731508"/>
            <a:ext cx="5045773" cy="453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10000"/>
              </a:lnSpc>
              <a:defRPr b="1" spc="-46" sz="13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Работники напрямую на гражданские производства</a:t>
            </a:r>
          </a:p>
        </p:txBody>
      </p:sp>
      <p:sp>
        <p:nvSpPr>
          <p:cNvPr id="223" name="Shape 11"/>
          <p:cNvSpPr/>
          <p:nvPr/>
        </p:nvSpPr>
        <p:spPr>
          <a:xfrm>
            <a:off x="568276" y="3287950"/>
            <a:ext cx="617905" cy="144809"/>
          </a:xfrm>
          <a:prstGeom prst="rect">
            <a:avLst/>
          </a:prstGeom>
          <a:solidFill>
            <a:srgbClr val="5A8A39"/>
          </a:solidFill>
          <a:ln w="12700">
            <a:miter lim="400000"/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24" name="Text 12"/>
          <p:cNvSpPr txBox="1"/>
          <p:nvPr/>
        </p:nvSpPr>
        <p:spPr>
          <a:xfrm>
            <a:off x="633129" y="3280881"/>
            <a:ext cx="514501" cy="160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8911">
              <a:defRPr b="1" spc="80" sz="720">
                <a:solidFill>
                  <a:srgbClr val="F4F1E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БЫСТРО</a:t>
            </a:r>
          </a:p>
        </p:txBody>
      </p:sp>
      <p:sp>
        <p:nvSpPr>
          <p:cNvPr id="225" name="Text 13"/>
          <p:cNvSpPr txBox="1"/>
          <p:nvPr/>
        </p:nvSpPr>
        <p:spPr>
          <a:xfrm>
            <a:off x="1276660" y="3265136"/>
            <a:ext cx="2257607" cy="20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pc="-66" sz="1067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но ограниченно по масштабу</a:t>
            </a:r>
          </a:p>
        </p:txBody>
      </p:sp>
      <p:sp>
        <p:nvSpPr>
          <p:cNvPr id="226" name="Text 14"/>
          <p:cNvSpPr txBox="1"/>
          <p:nvPr/>
        </p:nvSpPr>
        <p:spPr>
          <a:xfrm>
            <a:off x="568275" y="3556879"/>
            <a:ext cx="5045773" cy="773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896111">
              <a:lnSpc>
                <a:spcPct val="145000"/>
              </a:lnSpc>
              <a:defRPr sz="1078">
                <a:solidFill>
                  <a:srgbClr val="3A362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Новый экономичный поток рабочей силы на линейные позиции Корпорации — </a:t>
            </a:r>
            <a:r>
              <a:rPr b="1">
                <a:solidFill>
                  <a:srgbClr val="111111"/>
                </a:solidFill>
              </a:rPr>
              <a:t>КАМАЗ, АВТОВАЗ, гражданская часть УВЗ</a:t>
            </a:r>
            <a:r>
              <a:rPr>
                <a:solidFill>
                  <a:srgbClr val="111111"/>
                </a:solidFill>
              </a:rPr>
              <a:t> и пр. —</a:t>
            </a:r>
            <a:r>
              <a:rPr b="1">
                <a:solidFill>
                  <a:srgbClr val="111111"/>
                </a:solidFill>
              </a:rPr>
              <a:t> </a:t>
            </a:r>
            <a:r>
              <a:t>с первого квартала. </a:t>
            </a:r>
            <a:r>
              <a:rPr b="1"/>
              <a:t>Демпфер от ценового соперничества с другими секторами экономики.</a:t>
            </a:r>
          </a:p>
        </p:txBody>
      </p:sp>
      <p:sp>
        <p:nvSpPr>
          <p:cNvPr id="227" name="Shape 15"/>
          <p:cNvSpPr/>
          <p:nvPr/>
        </p:nvSpPr>
        <p:spPr>
          <a:xfrm>
            <a:off x="6129819" y="2000782"/>
            <a:ext cx="5581149" cy="2414131"/>
          </a:xfrm>
          <a:prstGeom prst="rect">
            <a:avLst/>
          </a:prstGeom>
          <a:solidFill>
            <a:srgbClr val="FFFFFF"/>
          </a:solidFill>
          <a:ln>
            <a:solidFill>
              <a:srgbClr val="111111">
                <a:alpha val="18000"/>
              </a:srgbClr>
            </a:solidFill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28" name="Shape 16"/>
          <p:cNvSpPr/>
          <p:nvPr/>
        </p:nvSpPr>
        <p:spPr>
          <a:xfrm>
            <a:off x="6179345" y="2601353"/>
            <a:ext cx="4898808" cy="6897"/>
          </a:xfrm>
          <a:prstGeom prst="rect">
            <a:avLst/>
          </a:prstGeom>
          <a:solidFill>
            <a:srgbClr val="111111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29" name="Text 17"/>
          <p:cNvSpPr txBox="1"/>
          <p:nvPr/>
        </p:nvSpPr>
        <p:spPr>
          <a:xfrm>
            <a:off x="6255545" y="2087146"/>
            <a:ext cx="679606" cy="442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365760">
              <a:lnSpc>
                <a:spcPct val="85000"/>
              </a:lnSpc>
              <a:defRPr b="1" spc="-160" sz="2880">
                <a:solidFill>
                  <a:srgbClr val="5A8A3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0" name="Text 18"/>
          <p:cNvSpPr txBox="1"/>
          <p:nvPr/>
        </p:nvSpPr>
        <p:spPr>
          <a:xfrm>
            <a:off x="6999778" y="2200425"/>
            <a:ext cx="4898808" cy="766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defRPr b="1" spc="283" sz="1700">
                <a:solidFill>
                  <a:srgbClr val="8A85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КАСКАДНОЕ ЗАМЕЩЕНИЕ</a:t>
            </a:r>
          </a:p>
        </p:txBody>
      </p:sp>
      <p:sp>
        <p:nvSpPr>
          <p:cNvPr id="231" name="Text 19"/>
          <p:cNvSpPr txBox="1"/>
          <p:nvPr/>
        </p:nvSpPr>
        <p:spPr>
          <a:xfrm>
            <a:off x="6255545" y="2731508"/>
            <a:ext cx="4789210" cy="453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96111">
              <a:lnSpc>
                <a:spcPct val="110000"/>
              </a:lnSpc>
              <a:defRPr b="1" spc="-45" sz="1274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Замещаем СМЗ для платформ → высвобождаем граждан РФ</a:t>
            </a:r>
          </a:p>
        </p:txBody>
      </p:sp>
      <p:sp>
        <p:nvSpPr>
          <p:cNvPr id="232" name="Shape 20"/>
          <p:cNvSpPr/>
          <p:nvPr/>
        </p:nvSpPr>
        <p:spPr>
          <a:xfrm>
            <a:off x="6255545" y="3287950"/>
            <a:ext cx="778365" cy="14480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33" name="Text 21"/>
          <p:cNvSpPr txBox="1"/>
          <p:nvPr/>
        </p:nvSpPr>
        <p:spPr>
          <a:xfrm>
            <a:off x="6320399" y="3280881"/>
            <a:ext cx="674960" cy="220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438911">
              <a:defRPr b="1" spc="80" sz="720">
                <a:solidFill>
                  <a:srgbClr val="F4F1E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МЕДЛЕННО</a:t>
            </a:r>
          </a:p>
        </p:txBody>
      </p:sp>
      <p:sp>
        <p:nvSpPr>
          <p:cNvPr id="234" name="Text 22"/>
          <p:cNvSpPr txBox="1"/>
          <p:nvPr/>
        </p:nvSpPr>
        <p:spPr>
          <a:xfrm>
            <a:off x="7124389" y="3265136"/>
            <a:ext cx="2421789" cy="20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886968">
              <a:defRPr b="1" spc="-66" sz="1067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но структурно и долгосрочно</a:t>
            </a:r>
          </a:p>
        </p:txBody>
      </p:sp>
      <p:sp>
        <p:nvSpPr>
          <p:cNvPr id="235" name="Text 23"/>
          <p:cNvSpPr txBox="1"/>
          <p:nvPr/>
        </p:nvSpPr>
        <p:spPr>
          <a:xfrm>
            <a:off x="6255545" y="3556879"/>
            <a:ext cx="5110613" cy="726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914400">
              <a:lnSpc>
                <a:spcPct val="145000"/>
              </a:lnSpc>
              <a:defRPr sz="1100">
                <a:solidFill>
                  <a:srgbClr val="3A362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Иностранцы не допускаются на режимные объекты. ГИС действует косвенно: индийцы — на склады платформ, граждане РФ — обратно на заводы. Это </a:t>
            </a:r>
            <a:r>
              <a:rPr b="1">
                <a:solidFill>
                  <a:srgbClr val="111111"/>
                </a:solidFill>
              </a:rPr>
              <a:t>разворачивает рынок труда страны на десятилетие вперёд</a:t>
            </a:r>
            <a:r>
              <a:t>.</a:t>
            </a:r>
          </a:p>
        </p:txBody>
      </p:sp>
      <p:sp>
        <p:nvSpPr>
          <p:cNvPr id="236" name="Shape 6"/>
          <p:cNvSpPr/>
          <p:nvPr/>
        </p:nvSpPr>
        <p:spPr>
          <a:xfrm>
            <a:off x="438317" y="4503246"/>
            <a:ext cx="11267771" cy="1428637"/>
          </a:xfrm>
          <a:prstGeom prst="rect">
            <a:avLst/>
          </a:prstGeom>
          <a:solidFill>
            <a:srgbClr val="FFFFFF"/>
          </a:solidFill>
          <a:ln>
            <a:solidFill>
              <a:srgbClr val="111111">
                <a:alpha val="18000"/>
              </a:srgbClr>
            </a:solidFill>
          </a:ln>
        </p:spPr>
        <p:txBody>
          <a:bodyPr lIns="45719" rIns="45719"/>
          <a:lstStyle/>
          <a:p>
            <a:pPr defTabSz="914400"/>
          </a:p>
        </p:txBody>
      </p:sp>
      <p:sp>
        <p:nvSpPr>
          <p:cNvPr id="237" name="Text 8"/>
          <p:cNvSpPr txBox="1"/>
          <p:nvPr/>
        </p:nvSpPr>
        <p:spPr>
          <a:xfrm>
            <a:off x="3598202" y="4443501"/>
            <a:ext cx="910361" cy="59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>
              <a:lnSpc>
                <a:spcPct val="85000"/>
              </a:lnSpc>
              <a:defRPr b="1" spc="-200" sz="3600">
                <a:solidFill>
                  <a:srgbClr val="5A8A3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38" name="Text 9"/>
          <p:cNvSpPr txBox="1"/>
          <p:nvPr/>
        </p:nvSpPr>
        <p:spPr>
          <a:xfrm>
            <a:off x="4169292" y="4656427"/>
            <a:ext cx="3840716" cy="766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defRPr b="1" spc="283" sz="1700">
                <a:solidFill>
                  <a:srgbClr val="8A85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РЕПАТРИАЦИЯ КАПИТАЛА</a:t>
            </a:r>
          </a:p>
        </p:txBody>
      </p:sp>
      <p:sp>
        <p:nvSpPr>
          <p:cNvPr id="239" name="Text 10"/>
          <p:cNvSpPr txBox="1"/>
          <p:nvPr/>
        </p:nvSpPr>
        <p:spPr>
          <a:xfrm>
            <a:off x="4093092" y="5028285"/>
            <a:ext cx="3840716" cy="453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>
            <a:lvl1pPr defTabSz="914400">
              <a:lnSpc>
                <a:spcPct val="110000"/>
              </a:lnSpc>
              <a:defRPr b="1" spc="-46" sz="13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Расчётный контур оператора работает в рупиях </a:t>
            </a:r>
          </a:p>
        </p:txBody>
      </p:sp>
      <p:sp>
        <p:nvSpPr>
          <p:cNvPr id="240" name="Text 23"/>
          <p:cNvSpPr txBox="1"/>
          <p:nvPr/>
        </p:nvSpPr>
        <p:spPr>
          <a:xfrm>
            <a:off x="651565" y="5406591"/>
            <a:ext cx="11277296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5400" tIns="25400" rIns="25400" bIns="25400">
            <a:normAutofit fontScale="100000" lnSpcReduction="0"/>
          </a:bodyPr>
          <a:lstStyle/>
          <a:p>
            <a:pPr defTabSz="914400">
              <a:lnSpc>
                <a:spcPct val="145000"/>
              </a:lnSpc>
              <a:defRPr sz="1100">
                <a:solidFill>
                  <a:srgbClr val="3A362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Через собственную РНКО, </a:t>
            </a:r>
            <a:r>
              <a:rPr b="1"/>
              <a:t>без SWIFT и USD конвертации.</a:t>
            </a:r>
            <a:r>
              <a:t> Зарплатный поток </a:t>
            </a:r>
            <a:r>
              <a:rPr b="1"/>
              <a:t>ГИС абсорбирует часть рупиевых остатков российских экспортёров</a:t>
            </a:r>
            <a:r>
              <a:t> из Индии.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-6198" y="-1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КОМАНДА И ИНФРАСТРУКТУРА</a:t>
            </a:r>
          </a:p>
        </p:txBody>
      </p:sp>
      <p:sp>
        <p:nvSpPr>
          <p:cNvPr id="245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IV</a:t>
            </a:r>
          </a:p>
        </p:txBody>
      </p:sp>
      <p:sp>
        <p:nvSpPr>
          <p:cNvPr id="246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Технологическая база и операционный контроль</a:t>
            </a:r>
          </a:p>
        </p:txBody>
      </p:sp>
      <p:sp>
        <p:nvSpPr>
          <p:cNvPr id="248" name="TextBox 9"/>
          <p:cNvSpPr txBox="1"/>
          <p:nvPr/>
        </p:nvSpPr>
        <p:spPr>
          <a:xfrm>
            <a:off x="609599" y="2198679"/>
            <a:ext cx="33933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ПЛАТФОРМА</a:t>
            </a:r>
          </a:p>
        </p:txBody>
      </p:sp>
      <p:sp>
        <p:nvSpPr>
          <p:cNvPr id="249" name="TextBox 10"/>
          <p:cNvSpPr txBox="1"/>
          <p:nvPr/>
        </p:nvSpPr>
        <p:spPr>
          <a:xfrm>
            <a:off x="609599" y="2472999"/>
            <a:ext cx="496835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Технологический контур</a:t>
            </a:r>
          </a:p>
        </p:txBody>
      </p:sp>
      <p:sp>
        <p:nvSpPr>
          <p:cNvPr id="250" name="TextBox 11"/>
          <p:cNvSpPr txBox="1"/>
          <p:nvPr/>
        </p:nvSpPr>
        <p:spPr>
          <a:xfrm>
            <a:off x="609599" y="3081329"/>
            <a:ext cx="453117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400">
                <a:solidFill>
                  <a:schemeClr val="accent3">
                    <a:satOff val="-6373"/>
                    <a:lumOff val="-10823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РНКО + СПР + Команда</a:t>
            </a:r>
          </a:p>
        </p:txBody>
      </p:sp>
      <p:sp>
        <p:nvSpPr>
          <p:cNvPr id="251" name="TextBox 12"/>
          <p:cNvSpPr txBox="1"/>
          <p:nvPr/>
        </p:nvSpPr>
        <p:spPr>
          <a:xfrm>
            <a:off x="621436" y="3682039"/>
            <a:ext cx="3393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b="1" spc="160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ПОД НАДЗОРОМ ЦБ РФ · РЕЕСТР МИНЦИФРЫ</a:t>
            </a:r>
          </a:p>
        </p:txBody>
      </p:sp>
      <p:sp>
        <p:nvSpPr>
          <p:cNvPr id="252" name="TextBox 13"/>
          <p:cNvSpPr txBox="1"/>
          <p:nvPr/>
        </p:nvSpPr>
        <p:spPr>
          <a:xfrm>
            <a:off x="621436" y="4256079"/>
            <a:ext cx="5139274" cy="79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 b="0">
                <a:solidFill>
                  <a:srgbClr val="3A362E"/>
                </a:solidFill>
              </a:rPr>
              <a:t>Собственный расчётный контур: </a:t>
            </a:r>
            <a:r>
              <a:rPr>
                <a:solidFill>
                  <a:srgbClr val="111111"/>
                </a:solidFill>
              </a:rPr>
              <a:t>эскроу-механика</a:t>
            </a:r>
            <a:r>
              <a:rPr b="0">
                <a:solidFill>
                  <a:srgbClr val="3A362E"/>
                </a:solidFill>
              </a:rPr>
              <a:t> с удержанием в рублях.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 b="0">
                <a:solidFill>
                  <a:srgbClr val="3A362E"/>
                </a:solidFill>
              </a:rPr>
              <a:t>Мультивалютный канал рубль–рупия </a:t>
            </a:r>
            <a:r>
              <a:rPr>
                <a:solidFill>
                  <a:srgbClr val="111111"/>
                </a:solidFill>
              </a:rPr>
              <a:t>без обращения через USD/SWIFT</a:t>
            </a:r>
            <a:r>
              <a:rPr b="0">
                <a:solidFill>
                  <a:srgbClr val="3A362E"/>
                </a:solidFill>
              </a:rPr>
              <a:t>.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 b="0">
                <a:solidFill>
                  <a:srgbClr val="3A362E"/>
                </a:solidFill>
              </a:rPr>
              <a:t>Интеграция с государственными системами: </a:t>
            </a:r>
            <a:r>
              <a:rPr>
                <a:solidFill>
                  <a:srgbClr val="111111"/>
                </a:solidFill>
              </a:rPr>
              <a:t>СМЭВ, ФНС, МВД</a:t>
            </a:r>
            <a:r>
              <a:rPr b="0">
                <a:solidFill>
                  <a:srgbClr val="3A362E"/>
                </a:solidFill>
              </a:rPr>
              <a:t>.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 b="0">
                <a:solidFill>
                  <a:srgbClr val="3A362E"/>
                </a:solidFill>
              </a:rPr>
              <a:t>Архитектура рассчитана на одновременное ведение от </a:t>
            </a:r>
            <a:r>
              <a:rPr>
                <a:solidFill>
                  <a:srgbClr val="111111"/>
                </a:solidFill>
              </a:rPr>
              <a:t>1 млн участников</a:t>
            </a:r>
            <a:r>
              <a:rPr b="0">
                <a:solidFill>
                  <a:srgbClr val="3A362E"/>
                </a:solidFill>
              </a:rPr>
              <a:t>.</a:t>
            </a:r>
          </a:p>
        </p:txBody>
      </p:sp>
      <p:sp>
        <p:nvSpPr>
          <p:cNvPr id="253" name="Connector 14"/>
          <p:cNvSpPr/>
          <p:nvPr/>
        </p:nvSpPr>
        <p:spPr>
          <a:xfrm flipH="1">
            <a:off x="6089649" y="2450972"/>
            <a:ext cx="1" cy="329184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4" name="TextBox 15"/>
          <p:cNvSpPr txBox="1"/>
          <p:nvPr/>
        </p:nvSpPr>
        <p:spPr>
          <a:xfrm>
            <a:off x="6244023" y="2198679"/>
            <a:ext cx="3393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5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ОПЕРАЦИИ</a:t>
            </a:r>
          </a:p>
        </p:txBody>
      </p:sp>
      <p:sp>
        <p:nvSpPr>
          <p:cNvPr id="255" name="TextBox 16"/>
          <p:cNvSpPr txBox="1"/>
          <p:nvPr/>
        </p:nvSpPr>
        <p:spPr>
          <a:xfrm>
            <a:off x="6244023" y="2472999"/>
            <a:ext cx="417357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Операционная экспертиза</a:t>
            </a:r>
          </a:p>
        </p:txBody>
      </p:sp>
      <p:sp>
        <p:nvSpPr>
          <p:cNvPr id="256" name="TextBox 17"/>
          <p:cNvSpPr txBox="1"/>
          <p:nvPr/>
        </p:nvSpPr>
        <p:spPr>
          <a:xfrm>
            <a:off x="6244023" y="3081329"/>
            <a:ext cx="547300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5000"/>
              </a:lnSpc>
              <a:defRPr sz="2400">
                <a:solidFill>
                  <a:schemeClr val="accent3">
                    <a:satOff val="-6373"/>
                    <a:lumOff val="-10823"/>
                  </a:schemeClr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13 000 работников </a:t>
            </a:r>
          </a:p>
        </p:txBody>
      </p:sp>
      <p:sp>
        <p:nvSpPr>
          <p:cNvPr id="257" name="TextBox 18"/>
          <p:cNvSpPr txBox="1"/>
          <p:nvPr/>
        </p:nvSpPr>
        <p:spPr>
          <a:xfrm>
            <a:off x="6244023" y="3667950"/>
            <a:ext cx="33933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b="1" spc="160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· ПОДТВЕРЖДЁННЫЙ ОПЫТ</a:t>
            </a:r>
          </a:p>
        </p:txBody>
      </p:sp>
      <p:sp>
        <p:nvSpPr>
          <p:cNvPr id="258" name="TextBox 19"/>
          <p:cNvSpPr txBox="1"/>
          <p:nvPr/>
        </p:nvSpPr>
        <p:spPr>
          <a:xfrm>
            <a:off x="6161171" y="4256079"/>
            <a:ext cx="5795493" cy="79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>
                <a:solidFill>
                  <a:srgbClr val="3A362E"/>
                </a:solidFill>
              </a:rPr>
              <a:t>Полный цикл обеспечения</a:t>
            </a:r>
            <a:r>
              <a:rPr b="0">
                <a:solidFill>
                  <a:srgbClr val="3A362E"/>
                </a:solidFill>
              </a:rPr>
              <a:t> включая объекты на Крайнем Севере.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>
                <a:solidFill>
                  <a:srgbClr val="3A362E"/>
                </a:solidFill>
              </a:rPr>
              <a:t>Контроль </a:t>
            </a:r>
            <a:r>
              <a:rPr b="0">
                <a:solidFill>
                  <a:srgbClr val="3A362E"/>
                </a:solidFill>
              </a:rPr>
              <a:t>размещения, логистики, питание, адаптация, </a:t>
            </a:r>
            <a:r>
              <a:rPr b="0">
                <a:solidFill>
                  <a:srgbClr val="111111"/>
                </a:solidFill>
              </a:rPr>
              <a:t>медицина и репатриация</a:t>
            </a:r>
            <a:r>
              <a:rPr b="0">
                <a:solidFill>
                  <a:srgbClr val="3A362E"/>
                </a:solidFill>
              </a:rPr>
              <a:t>.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— </a:t>
            </a:r>
            <a:r>
              <a:rPr>
                <a:solidFill>
                  <a:srgbClr val="3A362E"/>
                </a:solidFill>
              </a:rPr>
              <a:t>Опыт </a:t>
            </a:r>
            <a:r>
              <a:rPr b="1">
                <a:solidFill>
                  <a:srgbClr val="3A362E"/>
                </a:solidFill>
              </a:rPr>
              <a:t>прохождения проверок </a:t>
            </a:r>
            <a:r>
              <a:rPr>
                <a:solidFill>
                  <a:srgbClr val="111111"/>
                </a:solidFill>
              </a:rPr>
              <a:t>МВД, МЧС, Роспотребнадзора</a:t>
            </a:r>
            <a:r>
              <a:rPr>
                <a:solidFill>
                  <a:srgbClr val="3A362E"/>
                </a:solidFill>
              </a:rPr>
              <a:t> на объектах.</a:t>
            </a:r>
            <a:endParaRPr>
              <a:solidFill>
                <a:srgbClr val="3A362E"/>
              </a:solidFill>
            </a:endParaRPr>
          </a:p>
          <a:p>
            <a:pPr>
              <a:lnSpc>
                <a:spcPct val="125000"/>
              </a:lnSpc>
              <a:spcBef>
                <a:spcPts val="200"/>
              </a:spcBef>
              <a:defRPr b="1" sz="11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— </a:t>
            </a:r>
            <a:r>
              <a:rPr b="0">
                <a:solidFill>
                  <a:srgbClr val="3A362E"/>
                </a:solidFill>
              </a:rPr>
              <a:t>Сформирована модель </a:t>
            </a:r>
            <a:r>
              <a:rPr>
                <a:solidFill>
                  <a:srgbClr val="3A362E"/>
                </a:solidFill>
              </a:rPr>
              <a:t>партнёрства с центрами подбора</a:t>
            </a:r>
            <a:r>
              <a:rPr b="0">
                <a:solidFill>
                  <a:srgbClr val="3A362E"/>
                </a:solidFill>
              </a:rPr>
              <a:t> в стране исхода.</a:t>
            </a:r>
          </a:p>
        </p:txBody>
      </p:sp>
      <p:sp>
        <p:nvSpPr>
          <p:cNvPr id="259" name="TextBox 27"/>
          <p:cNvSpPr txBox="1"/>
          <p:nvPr/>
        </p:nvSpPr>
        <p:spPr>
          <a:xfrm>
            <a:off x="640079" y="6035040"/>
            <a:ext cx="10911537" cy="1355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60" name="TextBox 29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261" name="TextBox 30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06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262" name="TextBox 7"/>
          <p:cNvSpPr txBox="1"/>
          <p:nvPr/>
        </p:nvSpPr>
        <p:spPr>
          <a:xfrm>
            <a:off x="457199" y="1539748"/>
            <a:ext cx="11448416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такого масштаба требует промышленного финтех-ядра и опыта массового управления персоналом.</a:t>
            </a:r>
          </a:p>
        </p:txBody>
      </p:sp>
      <p:sp>
        <p:nvSpPr>
          <p:cNvPr id="263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4" name="Rectangle 29"/>
          <p:cNvSpPr/>
          <p:nvPr/>
        </p:nvSpPr>
        <p:spPr>
          <a:xfrm>
            <a:off x="457199" y="5839459"/>
            <a:ext cx="11277297" cy="457201"/>
          </a:xfrm>
          <a:prstGeom prst="rect">
            <a:avLst/>
          </a:prstGeom>
          <a:solidFill>
            <a:schemeClr val="accent3">
              <a:satOff val="-6373"/>
              <a:lumOff val="-1082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30"/>
          <p:cNvSpPr txBox="1"/>
          <p:nvPr/>
        </p:nvSpPr>
        <p:spPr>
          <a:xfrm>
            <a:off x="841394" y="5945631"/>
            <a:ext cx="1067431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На рынке РФ нет другого субъекта, </a:t>
            </a:r>
            <a:r>
              <a:rPr u="sng"/>
              <a:t>объединяющего технологии и опыт массового размещения</a:t>
            </a:r>
            <a:r>
              <a:t> в одной точке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1"/>
          <p:cNvSpPr/>
          <p:nvPr/>
        </p:nvSpPr>
        <p:spPr>
          <a:xfrm>
            <a:off x="-6198" y="0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 ЭКОНОМИКА ОПЕРАТОРА</a:t>
            </a:r>
          </a:p>
        </p:txBody>
      </p:sp>
      <p:sp>
        <p:nvSpPr>
          <p:cNvPr id="270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IV</a:t>
            </a:r>
          </a:p>
        </p:txBody>
      </p:sp>
      <p:sp>
        <p:nvSpPr>
          <p:cNvPr id="271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Connector 15"/>
          <p:cNvSpPr/>
          <p:nvPr/>
        </p:nvSpPr>
        <p:spPr>
          <a:xfrm>
            <a:off x="457199" y="2891028"/>
            <a:ext cx="4846322" cy="1"/>
          </a:xfrm>
          <a:prstGeom prst="line">
            <a:avLst/>
          </a:prstGeom>
          <a:ln w="1905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3" name="TextBox 16"/>
          <p:cNvSpPr txBox="1"/>
          <p:nvPr/>
        </p:nvSpPr>
        <p:spPr>
          <a:xfrm>
            <a:off x="457200" y="2598420"/>
            <a:ext cx="27432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Государство</a:t>
            </a:r>
          </a:p>
        </p:txBody>
      </p:sp>
      <p:sp>
        <p:nvSpPr>
          <p:cNvPr id="274" name="TextBox 17"/>
          <p:cNvSpPr txBox="1"/>
          <p:nvPr/>
        </p:nvSpPr>
        <p:spPr>
          <a:xfrm>
            <a:off x="4114800" y="2598420"/>
            <a:ext cx="11887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1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25%</a:t>
            </a:r>
          </a:p>
        </p:txBody>
      </p:sp>
      <p:sp>
        <p:nvSpPr>
          <p:cNvPr id="275" name="TextBox 18"/>
          <p:cNvSpPr txBox="1"/>
          <p:nvPr/>
        </p:nvSpPr>
        <p:spPr>
          <a:xfrm>
            <a:off x="457199" y="2964179"/>
            <a:ext cx="4846322" cy="39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defRPr b="1" sz="12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· </a:t>
            </a:r>
            <a:r>
              <a:rPr b="0">
                <a:solidFill>
                  <a:srgbClr val="3A362E"/>
                </a:solidFill>
              </a:rPr>
              <a:t>Мандат МПС+ГИС для правового регулирования потока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0000"/>
              </a:lnSpc>
              <a:spcBef>
                <a:spcPts val="100"/>
              </a:spcBef>
              <a:defRPr b="1" sz="12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· </a:t>
            </a:r>
            <a:r>
              <a:rPr b="0">
                <a:solidFill>
                  <a:srgbClr val="3A362E"/>
                </a:solidFill>
              </a:rPr>
              <a:t>Полный операционный контроль через Оператора ГИС</a:t>
            </a:r>
          </a:p>
        </p:txBody>
      </p:sp>
      <p:sp>
        <p:nvSpPr>
          <p:cNvPr id="276" name="Connector 19"/>
          <p:cNvSpPr/>
          <p:nvPr/>
        </p:nvSpPr>
        <p:spPr>
          <a:xfrm>
            <a:off x="457199" y="3909567"/>
            <a:ext cx="4846322" cy="1"/>
          </a:xfrm>
          <a:prstGeom prst="line">
            <a:avLst/>
          </a:prstGeom>
          <a:ln w="1905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77" name="TextBox 20"/>
          <p:cNvSpPr txBox="1"/>
          <p:nvPr/>
        </p:nvSpPr>
        <p:spPr>
          <a:xfrm>
            <a:off x="457200" y="3616959"/>
            <a:ext cx="27432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Частный капитал</a:t>
            </a:r>
          </a:p>
        </p:txBody>
      </p:sp>
      <p:sp>
        <p:nvSpPr>
          <p:cNvPr id="278" name="TextBox 21"/>
          <p:cNvSpPr txBox="1"/>
          <p:nvPr/>
        </p:nvSpPr>
        <p:spPr>
          <a:xfrm>
            <a:off x="4114800" y="3629659"/>
            <a:ext cx="118872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90000"/>
              </a:lnSpc>
              <a:defRPr sz="16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75%</a:t>
            </a:r>
          </a:p>
        </p:txBody>
      </p:sp>
      <p:sp>
        <p:nvSpPr>
          <p:cNvPr id="279" name="TextBox 22"/>
          <p:cNvSpPr txBox="1"/>
          <p:nvPr/>
        </p:nvSpPr>
        <p:spPr>
          <a:xfrm>
            <a:off x="457199" y="3982720"/>
            <a:ext cx="5618182" cy="873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defRPr b="1" sz="12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· </a:t>
            </a:r>
            <a:r>
              <a:rPr>
                <a:solidFill>
                  <a:srgbClr val="111111"/>
                </a:solidFill>
              </a:rPr>
              <a:t>100% операционного и финансового риска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0000"/>
              </a:lnSpc>
              <a:spcBef>
                <a:spcPts val="100"/>
              </a:spcBef>
              <a:defRPr b="1" sz="12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· </a:t>
            </a:r>
            <a:r>
              <a:rPr b="0">
                <a:solidFill>
                  <a:srgbClr val="3A362E"/>
                </a:solidFill>
              </a:rPr>
              <a:t>РНКО-инфраструктура, операционная модель, технологии</a:t>
            </a:r>
            <a:endParaRPr b="0">
              <a:solidFill>
                <a:srgbClr val="3A362E"/>
              </a:solidFill>
            </a:endParaRPr>
          </a:p>
          <a:p>
            <a:pPr>
              <a:lnSpc>
                <a:spcPct val="120000"/>
              </a:lnSpc>
              <a:spcBef>
                <a:spcPts val="100"/>
              </a:spcBef>
              <a:defRPr b="1" sz="1200">
                <a:solidFill>
                  <a:srgbClr val="D7282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· </a:t>
            </a:r>
            <a:r>
              <a:rPr b="0">
                <a:solidFill>
                  <a:srgbClr val="3A362E"/>
                </a:solidFill>
              </a:rPr>
              <a:t>Стартовый капитал: </a:t>
            </a:r>
            <a:r>
              <a:rPr>
                <a:solidFill>
                  <a:srgbClr val="111111"/>
                </a:solidFill>
              </a:rPr>
              <a:t>8–10 млрд ₽</a:t>
            </a:r>
            <a:r>
              <a:rPr b="0">
                <a:solidFill>
                  <a:srgbClr val="111111"/>
                </a:solidFill>
              </a:rPr>
              <a:t> </a:t>
            </a:r>
            <a:br>
              <a:rPr b="0">
                <a:solidFill>
                  <a:srgbClr val="111111"/>
                </a:solidFill>
              </a:rPr>
            </a:br>
            <a:r>
              <a:rPr b="0">
                <a:solidFill>
                  <a:srgbClr val="111111"/>
                </a:solidFill>
              </a:rPr>
              <a:t>(включает CAPEX, оборотный капитал и риск-буфер)</a:t>
            </a:r>
          </a:p>
        </p:txBody>
      </p:sp>
      <p:sp>
        <p:nvSpPr>
          <p:cNvPr id="280" name="Rectangle 26"/>
          <p:cNvSpPr/>
          <p:nvPr/>
        </p:nvSpPr>
        <p:spPr>
          <a:xfrm>
            <a:off x="6334695" y="2773679"/>
            <a:ext cx="6352301" cy="329185"/>
          </a:xfrm>
          <a:prstGeom prst="rect">
            <a:avLst/>
          </a:prstGeom>
          <a:solidFill>
            <a:srgbClr val="E7E1D3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281" name="TextBox 27"/>
          <p:cNvSpPr txBox="1"/>
          <p:nvPr/>
        </p:nvSpPr>
        <p:spPr>
          <a:xfrm>
            <a:off x="6463791" y="2846832"/>
            <a:ext cx="16367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ПОКАЗАТЕЛЬ, МЛРД ₽</a:t>
            </a:r>
          </a:p>
        </p:txBody>
      </p:sp>
      <p:sp>
        <p:nvSpPr>
          <p:cNvPr id="282" name="TextBox 28"/>
          <p:cNvSpPr txBox="1"/>
          <p:nvPr/>
        </p:nvSpPr>
        <p:spPr>
          <a:xfrm>
            <a:off x="8386571" y="2846832"/>
            <a:ext cx="3566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год</a:t>
            </a:r>
          </a:p>
        </p:txBody>
      </p:sp>
      <p:sp>
        <p:nvSpPr>
          <p:cNvPr id="283" name="TextBox 29"/>
          <p:cNvSpPr txBox="1"/>
          <p:nvPr/>
        </p:nvSpPr>
        <p:spPr>
          <a:xfrm>
            <a:off x="8889492" y="2846832"/>
            <a:ext cx="4480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год</a:t>
            </a:r>
          </a:p>
        </p:txBody>
      </p:sp>
      <p:sp>
        <p:nvSpPr>
          <p:cNvPr id="284" name="TextBox 30"/>
          <p:cNvSpPr txBox="1"/>
          <p:nvPr/>
        </p:nvSpPr>
        <p:spPr>
          <a:xfrm>
            <a:off x="9483852" y="2846832"/>
            <a:ext cx="4937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год</a:t>
            </a:r>
          </a:p>
        </p:txBody>
      </p:sp>
      <p:sp>
        <p:nvSpPr>
          <p:cNvPr id="285" name="TextBox 31"/>
          <p:cNvSpPr txBox="1"/>
          <p:nvPr/>
        </p:nvSpPr>
        <p:spPr>
          <a:xfrm>
            <a:off x="10123931" y="2846832"/>
            <a:ext cx="6309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 год</a:t>
            </a:r>
          </a:p>
        </p:txBody>
      </p:sp>
      <p:sp>
        <p:nvSpPr>
          <p:cNvPr id="286" name="TextBox 32"/>
          <p:cNvSpPr txBox="1"/>
          <p:nvPr/>
        </p:nvSpPr>
        <p:spPr>
          <a:xfrm>
            <a:off x="10901171" y="2846832"/>
            <a:ext cx="722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137" sz="8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∑ 7 лет</a:t>
            </a:r>
          </a:p>
        </p:txBody>
      </p:sp>
      <p:sp>
        <p:nvSpPr>
          <p:cNvPr id="287" name="Rectangle 33"/>
          <p:cNvSpPr/>
          <p:nvPr/>
        </p:nvSpPr>
        <p:spPr>
          <a:xfrm>
            <a:off x="6334695" y="3102864"/>
            <a:ext cx="6352301" cy="310897"/>
          </a:xfrm>
          <a:prstGeom prst="rect">
            <a:avLst/>
          </a:prstGeom>
          <a:solidFill>
            <a:srgbClr val="FFFFFF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288" name="TextBox 34"/>
          <p:cNvSpPr txBox="1"/>
          <p:nvPr/>
        </p:nvSpPr>
        <p:spPr>
          <a:xfrm>
            <a:off x="6463791" y="3171904"/>
            <a:ext cx="1636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Контингент, тыс. чел.</a:t>
            </a:r>
          </a:p>
        </p:txBody>
      </p:sp>
      <p:sp>
        <p:nvSpPr>
          <p:cNvPr id="289" name="TextBox 35"/>
          <p:cNvSpPr txBox="1"/>
          <p:nvPr/>
        </p:nvSpPr>
        <p:spPr>
          <a:xfrm>
            <a:off x="8386571" y="3171904"/>
            <a:ext cx="35661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290" name="TextBox 36"/>
          <p:cNvSpPr txBox="1"/>
          <p:nvPr/>
        </p:nvSpPr>
        <p:spPr>
          <a:xfrm>
            <a:off x="8889492" y="3171904"/>
            <a:ext cx="44805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250</a:t>
            </a:r>
          </a:p>
        </p:txBody>
      </p:sp>
      <p:sp>
        <p:nvSpPr>
          <p:cNvPr id="291" name="TextBox 37"/>
          <p:cNvSpPr txBox="1"/>
          <p:nvPr/>
        </p:nvSpPr>
        <p:spPr>
          <a:xfrm>
            <a:off x="9483852" y="3171904"/>
            <a:ext cx="493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700</a:t>
            </a:r>
          </a:p>
        </p:txBody>
      </p:sp>
      <p:sp>
        <p:nvSpPr>
          <p:cNvPr id="292" name="TextBox 38"/>
          <p:cNvSpPr txBox="1"/>
          <p:nvPr/>
        </p:nvSpPr>
        <p:spPr>
          <a:xfrm>
            <a:off x="10123931" y="3171904"/>
            <a:ext cx="63093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1 000</a:t>
            </a:r>
          </a:p>
        </p:txBody>
      </p:sp>
      <p:sp>
        <p:nvSpPr>
          <p:cNvPr id="293" name="TextBox 39"/>
          <p:cNvSpPr txBox="1"/>
          <p:nvPr/>
        </p:nvSpPr>
        <p:spPr>
          <a:xfrm>
            <a:off x="10901171" y="3194812"/>
            <a:ext cx="722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94" name="Rectangle 40"/>
          <p:cNvSpPr/>
          <p:nvPr/>
        </p:nvSpPr>
        <p:spPr>
          <a:xfrm>
            <a:off x="6334695" y="3413760"/>
            <a:ext cx="6352301" cy="310897"/>
          </a:xfrm>
          <a:prstGeom prst="rect">
            <a:avLst/>
          </a:prstGeom>
          <a:solidFill>
            <a:srgbClr val="FFFFFF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295" name="TextBox 41"/>
          <p:cNvSpPr txBox="1"/>
          <p:nvPr/>
        </p:nvSpPr>
        <p:spPr>
          <a:xfrm>
            <a:off x="6463791" y="3482800"/>
            <a:ext cx="1636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Выручка</a:t>
            </a:r>
          </a:p>
        </p:txBody>
      </p:sp>
      <p:sp>
        <p:nvSpPr>
          <p:cNvPr id="296" name="TextBox 42"/>
          <p:cNvSpPr txBox="1"/>
          <p:nvPr/>
        </p:nvSpPr>
        <p:spPr>
          <a:xfrm>
            <a:off x="8386571" y="3482800"/>
            <a:ext cx="35661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297" name="TextBox 43"/>
          <p:cNvSpPr txBox="1"/>
          <p:nvPr/>
        </p:nvSpPr>
        <p:spPr>
          <a:xfrm>
            <a:off x="8889492" y="3482800"/>
            <a:ext cx="44805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293</a:t>
            </a:r>
          </a:p>
        </p:txBody>
      </p:sp>
      <p:sp>
        <p:nvSpPr>
          <p:cNvPr id="298" name="TextBox 44"/>
          <p:cNvSpPr txBox="1"/>
          <p:nvPr/>
        </p:nvSpPr>
        <p:spPr>
          <a:xfrm>
            <a:off x="9483852" y="3482800"/>
            <a:ext cx="493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985</a:t>
            </a:r>
          </a:p>
        </p:txBody>
      </p:sp>
      <p:sp>
        <p:nvSpPr>
          <p:cNvPr id="299" name="TextBox 45"/>
          <p:cNvSpPr txBox="1"/>
          <p:nvPr/>
        </p:nvSpPr>
        <p:spPr>
          <a:xfrm>
            <a:off x="10123931" y="3482800"/>
            <a:ext cx="63093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1 519</a:t>
            </a:r>
          </a:p>
        </p:txBody>
      </p:sp>
      <p:sp>
        <p:nvSpPr>
          <p:cNvPr id="300" name="TextBox 46"/>
          <p:cNvSpPr txBox="1"/>
          <p:nvPr/>
        </p:nvSpPr>
        <p:spPr>
          <a:xfrm>
            <a:off x="10901171" y="3482800"/>
            <a:ext cx="7223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4 818</a:t>
            </a:r>
          </a:p>
        </p:txBody>
      </p:sp>
      <p:sp>
        <p:nvSpPr>
          <p:cNvPr id="301" name="Rectangle 47"/>
          <p:cNvSpPr/>
          <p:nvPr/>
        </p:nvSpPr>
        <p:spPr>
          <a:xfrm>
            <a:off x="6334695" y="3724655"/>
            <a:ext cx="6352301" cy="310897"/>
          </a:xfrm>
          <a:prstGeom prst="rect">
            <a:avLst/>
          </a:prstGeom>
          <a:solidFill>
            <a:srgbClr val="FFFFFF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302" name="TextBox 48"/>
          <p:cNvSpPr txBox="1"/>
          <p:nvPr/>
        </p:nvSpPr>
        <p:spPr>
          <a:xfrm>
            <a:off x="6463791" y="3793696"/>
            <a:ext cx="18288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Затраты (перем. + фикс.)</a:t>
            </a:r>
          </a:p>
        </p:txBody>
      </p:sp>
      <p:sp>
        <p:nvSpPr>
          <p:cNvPr id="303" name="TextBox 49"/>
          <p:cNvSpPr txBox="1"/>
          <p:nvPr/>
        </p:nvSpPr>
        <p:spPr>
          <a:xfrm>
            <a:off x="8386571" y="3793696"/>
            <a:ext cx="35661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04" name="TextBox 50"/>
          <p:cNvSpPr txBox="1"/>
          <p:nvPr/>
        </p:nvSpPr>
        <p:spPr>
          <a:xfrm>
            <a:off x="8889492" y="3793696"/>
            <a:ext cx="44805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211</a:t>
            </a:r>
          </a:p>
        </p:txBody>
      </p:sp>
      <p:sp>
        <p:nvSpPr>
          <p:cNvPr id="305" name="TextBox 51"/>
          <p:cNvSpPr txBox="1"/>
          <p:nvPr/>
        </p:nvSpPr>
        <p:spPr>
          <a:xfrm>
            <a:off x="9483852" y="3793696"/>
            <a:ext cx="493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721</a:t>
            </a:r>
          </a:p>
        </p:txBody>
      </p:sp>
      <p:sp>
        <p:nvSpPr>
          <p:cNvPr id="306" name="TextBox 52"/>
          <p:cNvSpPr txBox="1"/>
          <p:nvPr/>
        </p:nvSpPr>
        <p:spPr>
          <a:xfrm>
            <a:off x="10123931" y="3793696"/>
            <a:ext cx="63093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1 112</a:t>
            </a:r>
          </a:p>
        </p:txBody>
      </p:sp>
      <p:sp>
        <p:nvSpPr>
          <p:cNvPr id="307" name="TextBox 53"/>
          <p:cNvSpPr txBox="1"/>
          <p:nvPr/>
        </p:nvSpPr>
        <p:spPr>
          <a:xfrm>
            <a:off x="10901171" y="3793696"/>
            <a:ext cx="7223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3 518</a:t>
            </a:r>
          </a:p>
        </p:txBody>
      </p:sp>
      <p:sp>
        <p:nvSpPr>
          <p:cNvPr id="308" name="Rectangle 54"/>
          <p:cNvSpPr/>
          <p:nvPr/>
        </p:nvSpPr>
        <p:spPr>
          <a:xfrm>
            <a:off x="6334695" y="4035552"/>
            <a:ext cx="6352301" cy="310897"/>
          </a:xfrm>
          <a:prstGeom prst="rect">
            <a:avLst/>
          </a:prstGeom>
          <a:solidFill>
            <a:srgbClr val="FFFFFF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309" name="TextBox 55"/>
          <p:cNvSpPr txBox="1"/>
          <p:nvPr/>
        </p:nvSpPr>
        <p:spPr>
          <a:xfrm>
            <a:off x="6463791" y="4104592"/>
            <a:ext cx="163677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EBIT</a:t>
            </a:r>
          </a:p>
        </p:txBody>
      </p:sp>
      <p:sp>
        <p:nvSpPr>
          <p:cNvPr id="310" name="TextBox 56"/>
          <p:cNvSpPr txBox="1"/>
          <p:nvPr/>
        </p:nvSpPr>
        <p:spPr>
          <a:xfrm>
            <a:off x="8386571" y="4104592"/>
            <a:ext cx="35661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11" name="TextBox 57"/>
          <p:cNvSpPr txBox="1"/>
          <p:nvPr/>
        </p:nvSpPr>
        <p:spPr>
          <a:xfrm>
            <a:off x="8889492" y="4104592"/>
            <a:ext cx="44805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77</a:t>
            </a:r>
          </a:p>
        </p:txBody>
      </p:sp>
      <p:sp>
        <p:nvSpPr>
          <p:cNvPr id="312" name="TextBox 58"/>
          <p:cNvSpPr txBox="1"/>
          <p:nvPr/>
        </p:nvSpPr>
        <p:spPr>
          <a:xfrm>
            <a:off x="9483852" y="4104592"/>
            <a:ext cx="49377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250</a:t>
            </a:r>
          </a:p>
        </p:txBody>
      </p:sp>
      <p:sp>
        <p:nvSpPr>
          <p:cNvPr id="313" name="TextBox 59"/>
          <p:cNvSpPr txBox="1"/>
          <p:nvPr/>
        </p:nvSpPr>
        <p:spPr>
          <a:xfrm>
            <a:off x="10123931" y="4104592"/>
            <a:ext cx="63093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385</a:t>
            </a:r>
          </a:p>
        </p:txBody>
      </p:sp>
      <p:sp>
        <p:nvSpPr>
          <p:cNvPr id="314" name="TextBox 60"/>
          <p:cNvSpPr txBox="1"/>
          <p:nvPr/>
        </p:nvSpPr>
        <p:spPr>
          <a:xfrm>
            <a:off x="10901171" y="4104592"/>
            <a:ext cx="722377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1 229</a:t>
            </a:r>
          </a:p>
        </p:txBody>
      </p:sp>
      <p:sp>
        <p:nvSpPr>
          <p:cNvPr id="315" name="Rectangle 61"/>
          <p:cNvSpPr/>
          <p:nvPr/>
        </p:nvSpPr>
        <p:spPr>
          <a:xfrm>
            <a:off x="6334695" y="4346447"/>
            <a:ext cx="6352301" cy="310897"/>
          </a:xfrm>
          <a:prstGeom prst="rect">
            <a:avLst/>
          </a:prstGeom>
          <a:solidFill>
            <a:srgbClr val="FCECEB"/>
          </a:solidFill>
          <a:ln w="6350">
            <a:solidFill>
              <a:srgbClr val="C0BAAE"/>
            </a:solidFill>
          </a:ln>
        </p:spPr>
        <p:txBody>
          <a:bodyPr lIns="45719" rIns="45719" anchor="ctr"/>
          <a:lstStyle/>
          <a:p>
            <a:pPr algn="ctr">
              <a:defRPr sz="800">
                <a:solidFill>
                  <a:srgbClr val="FFFFFF"/>
                </a:solidFill>
              </a:defRPr>
            </a:pPr>
          </a:p>
        </p:txBody>
      </p:sp>
      <p:sp>
        <p:nvSpPr>
          <p:cNvPr id="316" name="TextBox 62"/>
          <p:cNvSpPr txBox="1"/>
          <p:nvPr/>
        </p:nvSpPr>
        <p:spPr>
          <a:xfrm>
            <a:off x="6463791" y="4415488"/>
            <a:ext cx="1636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Чистая прибыль</a:t>
            </a:r>
          </a:p>
        </p:txBody>
      </p:sp>
      <p:sp>
        <p:nvSpPr>
          <p:cNvPr id="317" name="TextBox 63"/>
          <p:cNvSpPr txBox="1"/>
          <p:nvPr/>
        </p:nvSpPr>
        <p:spPr>
          <a:xfrm>
            <a:off x="8386571" y="4415488"/>
            <a:ext cx="35661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8" name="TextBox 64"/>
          <p:cNvSpPr txBox="1"/>
          <p:nvPr/>
        </p:nvSpPr>
        <p:spPr>
          <a:xfrm>
            <a:off x="8889492" y="4415488"/>
            <a:ext cx="44805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61</a:t>
            </a:r>
          </a:p>
        </p:txBody>
      </p:sp>
      <p:sp>
        <p:nvSpPr>
          <p:cNvPr id="319" name="TextBox 65"/>
          <p:cNvSpPr txBox="1"/>
          <p:nvPr/>
        </p:nvSpPr>
        <p:spPr>
          <a:xfrm>
            <a:off x="9483852" y="4415488"/>
            <a:ext cx="4937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198</a:t>
            </a:r>
          </a:p>
        </p:txBody>
      </p:sp>
      <p:sp>
        <p:nvSpPr>
          <p:cNvPr id="320" name="TextBox 66"/>
          <p:cNvSpPr txBox="1"/>
          <p:nvPr/>
        </p:nvSpPr>
        <p:spPr>
          <a:xfrm>
            <a:off x="10123931" y="4415488"/>
            <a:ext cx="63093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306</a:t>
            </a:r>
          </a:p>
        </p:txBody>
      </p:sp>
      <p:sp>
        <p:nvSpPr>
          <p:cNvPr id="321" name="TextBox 67"/>
          <p:cNvSpPr txBox="1"/>
          <p:nvPr/>
        </p:nvSpPr>
        <p:spPr>
          <a:xfrm>
            <a:off x="10901171" y="4415488"/>
            <a:ext cx="722377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200">
                <a:solidFill>
                  <a:schemeClr val="accent3">
                    <a:satOff val="-6373"/>
                    <a:lumOff val="-10823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975</a:t>
            </a:r>
          </a:p>
        </p:txBody>
      </p:sp>
      <p:sp>
        <p:nvSpPr>
          <p:cNvPr id="322" name="TextBox 69"/>
          <p:cNvSpPr txBox="1"/>
          <p:nvPr/>
        </p:nvSpPr>
        <p:spPr>
          <a:xfrm>
            <a:off x="7210995" y="4801241"/>
            <a:ext cx="4410324" cy="541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lnSpc>
                <a:spcPct val="135000"/>
              </a:lnSpc>
              <a:defRPr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Базовый сценарий: ставка 550 ₽/час, 240 ч/мес.</a:t>
            </a:r>
          </a:p>
          <a:p>
            <a:pPr algn="r">
              <a:lnSpc>
                <a:spcPct val="135000"/>
              </a:lnSpc>
              <a:defRPr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Контингент — на конец года; расчёт выручки — по среднегодовому. </a:t>
            </a:r>
          </a:p>
          <a:p>
            <a:pPr algn="r">
              <a:lnSpc>
                <a:spcPct val="135000"/>
              </a:lnSpc>
              <a:defRPr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Налог 25% от EBIT + доход от эскроу.</a:t>
            </a:r>
          </a:p>
        </p:txBody>
      </p:sp>
      <p:sp>
        <p:nvSpPr>
          <p:cNvPr id="323" name="Rectangle 70"/>
          <p:cNvSpPr/>
          <p:nvPr/>
        </p:nvSpPr>
        <p:spPr>
          <a:xfrm>
            <a:off x="457199" y="5989320"/>
            <a:ext cx="11277297" cy="2926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71"/>
          <p:cNvSpPr txBox="1"/>
          <p:nvPr/>
        </p:nvSpPr>
        <p:spPr>
          <a:xfrm>
            <a:off x="640079" y="6035040"/>
            <a:ext cx="10911537" cy="138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Государство получает фискальный поток до 764 млрд ₽/год без бюджетных вложений. 25% доли в Операторе — компенсация вклада мандата.</a:t>
            </a:r>
          </a:p>
        </p:txBody>
      </p:sp>
      <p:sp>
        <p:nvSpPr>
          <p:cNvPr id="325" name="Connector 72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6" name="TextBox 73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327" name="TextBox 74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07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328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Распределение ролей и инвестиционная программа</a:t>
            </a:r>
          </a:p>
        </p:txBody>
      </p:sp>
      <p:sp>
        <p:nvSpPr>
          <p:cNvPr id="329" name="TextBox 7"/>
          <p:cNvSpPr txBox="1"/>
          <p:nvPr/>
        </p:nvSpPr>
        <p:spPr>
          <a:xfrm>
            <a:off x="457199" y="1539748"/>
            <a:ext cx="11448416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Государство получает фискальный поток без бюджетных вложений; частный капитал берёт на себя риск исполнения.</a:t>
            </a:r>
          </a:p>
        </p:txBody>
      </p:sp>
      <p:sp>
        <p:nvSpPr>
          <p:cNvPr id="330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Connector 13"/>
          <p:cNvSpPr/>
          <p:nvPr/>
        </p:nvSpPr>
        <p:spPr>
          <a:xfrm flipH="1">
            <a:off x="5838316" y="2131059"/>
            <a:ext cx="1" cy="320040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Rectangle 29"/>
          <p:cNvSpPr/>
          <p:nvPr/>
        </p:nvSpPr>
        <p:spPr>
          <a:xfrm>
            <a:off x="457199" y="5839459"/>
            <a:ext cx="11277297" cy="457201"/>
          </a:xfrm>
          <a:prstGeom prst="rect">
            <a:avLst/>
          </a:prstGeom>
          <a:solidFill>
            <a:schemeClr val="accent3">
              <a:satOff val="-6373"/>
              <a:lumOff val="-10823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30"/>
          <p:cNvSpPr txBox="1"/>
          <p:nvPr/>
        </p:nvSpPr>
        <p:spPr>
          <a:xfrm>
            <a:off x="2291182" y="5948041"/>
            <a:ext cx="8075217" cy="214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Фискальный эффект в </a:t>
            </a:r>
            <a:r>
              <a:rPr u="sng"/>
              <a:t>+764 млрд ₽/год при нулевой бюджетной нагрузке</a:t>
            </a:r>
            <a:r>
              <a:t> к 7 году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1"/>
          <p:cNvSpPr/>
          <p:nvPr/>
        </p:nvSpPr>
        <p:spPr>
          <a:xfrm>
            <a:off x="-6198" y="-1"/>
            <a:ext cx="12191696" cy="6858001"/>
          </a:xfrm>
          <a:prstGeom prst="rect">
            <a:avLst/>
          </a:prstGeom>
          <a:solidFill>
            <a:srgbClr val="F1ECE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Rectangle 2"/>
          <p:cNvSpPr/>
          <p:nvPr/>
        </p:nvSpPr>
        <p:spPr>
          <a:xfrm>
            <a:off x="457200" y="292608"/>
            <a:ext cx="64008" cy="64009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3"/>
          <p:cNvSpPr txBox="1"/>
          <p:nvPr/>
        </p:nvSpPr>
        <p:spPr>
          <a:xfrm>
            <a:off x="594359" y="246888"/>
            <a:ext cx="73152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pc="240" sz="10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 · ЗАПРОС НА РЕШЕНИЯ</a:t>
            </a:r>
          </a:p>
        </p:txBody>
      </p:sp>
      <p:sp>
        <p:nvSpPr>
          <p:cNvPr id="338" name="TextBox 4"/>
          <p:cNvSpPr txBox="1"/>
          <p:nvPr/>
        </p:nvSpPr>
        <p:spPr>
          <a:xfrm>
            <a:off x="9905695" y="246888"/>
            <a:ext cx="18288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pc="240" sz="10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ЧАСТЬ V</a:t>
            </a:r>
          </a:p>
        </p:txBody>
      </p:sp>
      <p:sp>
        <p:nvSpPr>
          <p:cNvPr id="339" name="Rectangle 5"/>
          <p:cNvSpPr/>
          <p:nvPr/>
        </p:nvSpPr>
        <p:spPr>
          <a:xfrm>
            <a:off x="457199" y="658368"/>
            <a:ext cx="411482" cy="45721"/>
          </a:xfrm>
          <a:prstGeom prst="rect">
            <a:avLst/>
          </a:prstGeom>
          <a:solidFill>
            <a:srgbClr val="D728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6"/>
          <p:cNvSpPr txBox="1"/>
          <p:nvPr/>
        </p:nvSpPr>
        <p:spPr>
          <a:xfrm>
            <a:off x="457199" y="841247"/>
            <a:ext cx="1078992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260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Запрос на решения</a:t>
            </a:r>
          </a:p>
        </p:txBody>
      </p:sp>
      <p:sp>
        <p:nvSpPr>
          <p:cNvPr id="341" name="TextBox 9"/>
          <p:cNvSpPr txBox="1"/>
          <p:nvPr/>
        </p:nvSpPr>
        <p:spPr>
          <a:xfrm>
            <a:off x="457199" y="2443479"/>
            <a:ext cx="1463042" cy="143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85000"/>
              </a:lnSpc>
              <a:defRPr sz="8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42" name="TextBox 10"/>
          <p:cNvSpPr txBox="1"/>
          <p:nvPr/>
        </p:nvSpPr>
        <p:spPr>
          <a:xfrm>
            <a:off x="2011679" y="3009900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pc="1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САНКЦИОНИРОВАТЬ</a:t>
            </a:r>
          </a:p>
        </p:txBody>
      </p:sp>
      <p:sp>
        <p:nvSpPr>
          <p:cNvPr id="343" name="TextBox 12"/>
          <p:cNvSpPr txBox="1"/>
          <p:nvPr/>
        </p:nvSpPr>
        <p:spPr>
          <a:xfrm>
            <a:off x="6217919" y="2794155"/>
            <a:ext cx="5633765" cy="76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подписание доппротокола к МПС </a:t>
            </a:r>
            <a:r>
              <a:rPr>
                <a:solidFill>
                  <a:srgbClr val="111111"/>
                </a:solidFill>
              </a:rPr>
              <a:t>Россия–Индия</a:t>
            </a:r>
            <a:r>
              <a:t> для снятия ограничений ТК и НК путём отсылки к создаваемой ГИС.</a:t>
            </a:r>
            <a:br/>
            <a:r>
              <a:t>Куратор — вице-премьер Д. В. Мантуров.</a:t>
            </a:r>
          </a:p>
        </p:txBody>
      </p:sp>
      <p:sp>
        <p:nvSpPr>
          <p:cNvPr id="344" name="Connector 14"/>
          <p:cNvSpPr/>
          <p:nvPr/>
        </p:nvSpPr>
        <p:spPr>
          <a:xfrm>
            <a:off x="457199" y="3997959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5" name="TextBox 15"/>
          <p:cNvSpPr txBox="1"/>
          <p:nvPr/>
        </p:nvSpPr>
        <p:spPr>
          <a:xfrm>
            <a:off x="457199" y="4180840"/>
            <a:ext cx="1463042" cy="143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85000"/>
              </a:lnSpc>
              <a:defRPr sz="800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46" name="TextBox 16"/>
          <p:cNvSpPr txBox="1"/>
          <p:nvPr/>
        </p:nvSpPr>
        <p:spPr>
          <a:xfrm>
            <a:off x="2011679" y="4733290"/>
            <a:ext cx="41148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pc="150">
                <a:solidFill>
                  <a:srgbClr val="11111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ИНИЦИИРОВАТЬ</a:t>
            </a:r>
          </a:p>
        </p:txBody>
      </p:sp>
      <p:sp>
        <p:nvSpPr>
          <p:cNvPr id="347" name="TextBox 18"/>
          <p:cNvSpPr txBox="1"/>
          <p:nvPr/>
        </p:nvSpPr>
        <p:spPr>
          <a:xfrm>
            <a:off x="6217919" y="4498842"/>
            <a:ext cx="5633766" cy="1046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с</a:t>
            </a:r>
            <a:r>
              <a:rPr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оздание ГИС и утверждение её параметров под эгидой Корпорации </a:t>
            </a:r>
            <a:r>
              <a:t>для возвращения и удержания граждан РФ в промышленности при одновременном поддержании роста платформенной экономики и восстановлении фискального потока.</a:t>
            </a:r>
          </a:p>
        </p:txBody>
      </p:sp>
      <p:sp>
        <p:nvSpPr>
          <p:cNvPr id="348" name="Connector 19"/>
          <p:cNvSpPr/>
          <p:nvPr/>
        </p:nvSpPr>
        <p:spPr>
          <a:xfrm>
            <a:off x="457199" y="6281928"/>
            <a:ext cx="11277296" cy="1"/>
          </a:xfrm>
          <a:prstGeom prst="line">
            <a:avLst/>
          </a:prstGeom>
          <a:ln w="6350">
            <a:solidFill>
              <a:srgbClr val="C0BAAE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9" name="TextBox 20"/>
          <p:cNvSpPr txBox="1"/>
          <p:nvPr/>
        </p:nvSpPr>
        <p:spPr>
          <a:xfrm>
            <a:off x="457200" y="6345935"/>
            <a:ext cx="73152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pc="160" sz="900">
                <a:solidFill>
                  <a:srgbClr val="8A857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ГИС «ЦТИ» · Стратегическая записка</a:t>
            </a:r>
          </a:p>
        </p:txBody>
      </p:sp>
      <p:sp>
        <p:nvSpPr>
          <p:cNvPr id="350" name="TextBox 21"/>
          <p:cNvSpPr txBox="1"/>
          <p:nvPr/>
        </p:nvSpPr>
        <p:spPr>
          <a:xfrm>
            <a:off x="9905695" y="634593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pc="160" sz="900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08</a:t>
            </a:r>
            <a:r>
              <a:rPr b="0">
                <a:solidFill>
                  <a:srgbClr val="8A857B"/>
                </a:solidFill>
              </a:rPr>
              <a:t> / 08</a:t>
            </a:r>
          </a:p>
        </p:txBody>
      </p:sp>
      <p:sp>
        <p:nvSpPr>
          <p:cNvPr id="351" name="TextBox 7"/>
          <p:cNvSpPr txBox="1"/>
          <p:nvPr/>
        </p:nvSpPr>
        <p:spPr>
          <a:xfrm>
            <a:off x="457199" y="1539748"/>
            <a:ext cx="11448416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2000"/>
              </a:lnSpc>
              <a:defRPr sz="1500">
                <a:solidFill>
                  <a:srgbClr val="3A362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Институциональный патронаж Корпорации. Два шага.</a:t>
            </a:r>
          </a:p>
        </p:txBody>
      </p:sp>
      <p:sp>
        <p:nvSpPr>
          <p:cNvPr id="352" name="Connector 8"/>
          <p:cNvSpPr/>
          <p:nvPr/>
        </p:nvSpPr>
        <p:spPr>
          <a:xfrm>
            <a:off x="457199" y="1841500"/>
            <a:ext cx="11277297" cy="0"/>
          </a:xfrm>
          <a:prstGeom prst="line">
            <a:avLst/>
          </a:prstGeom>
          <a:ln w="12700">
            <a:solidFill>
              <a:srgbClr val="11111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